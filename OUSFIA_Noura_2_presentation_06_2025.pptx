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sldIdLst>
    <p:sldId id="256" r:id="rId2"/>
    <p:sldId id="269" r:id="rId3"/>
    <p:sldId id="257" r:id="rId4"/>
    <p:sldId id="258" r:id="rId5"/>
    <p:sldId id="266" r:id="rId6"/>
    <p:sldId id="263" r:id="rId7"/>
    <p:sldId id="264" r:id="rId8"/>
    <p:sldId id="262" r:id="rId9"/>
    <p:sldId id="267" r:id="rId10"/>
    <p:sldId id="270" r:id="rId11"/>
    <p:sldId id="271" r:id="rId12"/>
    <p:sldId id="272" r:id="rId13"/>
    <p:sldId id="265" r:id="rId14"/>
    <p:sldId id="273" r:id="rId15"/>
    <p:sldId id="274" r:id="rId16"/>
    <p:sldId id="275" r:id="rId17"/>
    <p:sldId id="276" r:id="rId18"/>
    <p:sldId id="278"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fr-FR"/>
              <a:t>Modifiez le style du titre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0864B9F-7CB0-4E74-A2E4-9494BDFD287E}" type="datetimeFigureOut">
              <a:rPr lang="fr-FR" smtClean="0"/>
              <a:t>28/06/2025</a:t>
            </a:fld>
            <a:endParaRPr lang="fr-FR" dirty="0"/>
          </a:p>
        </p:txBody>
      </p:sp>
      <p:sp>
        <p:nvSpPr>
          <p:cNvPr id="5" name="Footer Placeholder 4"/>
          <p:cNvSpPr>
            <a:spLocks noGrp="1"/>
          </p:cNvSpPr>
          <p:nvPr>
            <p:ph type="ftr" sz="quarter" idx="11"/>
          </p:nvPr>
        </p:nvSpPr>
        <p:spPr>
          <a:xfrm>
            <a:off x="1876424" y="5410201"/>
            <a:ext cx="5124886" cy="365125"/>
          </a:xfrm>
        </p:spPr>
        <p:txBody>
          <a:bodyPr/>
          <a:lstStyle/>
          <a:p>
            <a:endParaRPr lang="fr-FR" dirty="0"/>
          </a:p>
        </p:txBody>
      </p:sp>
      <p:sp>
        <p:nvSpPr>
          <p:cNvPr id="6" name="Slide Number Placeholder 5"/>
          <p:cNvSpPr>
            <a:spLocks noGrp="1"/>
          </p:cNvSpPr>
          <p:nvPr>
            <p:ph type="sldNum" sz="quarter" idx="12"/>
          </p:nvPr>
        </p:nvSpPr>
        <p:spPr>
          <a:xfrm>
            <a:off x="9896911" y="5410199"/>
            <a:ext cx="771089" cy="365125"/>
          </a:xfrm>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817309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2539805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4186714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1483699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fr-FR"/>
              <a:t>Modifiez le style du titre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141410" y="3073397"/>
            <a:ext cx="4878391"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073397"/>
            <a:ext cx="4875210" cy="271780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4093152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746664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1242240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47077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15274719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fr-FR" dirty="0"/>
              <a:t>Cliquez sur l'icône pour ajouter une image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88344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509174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fr-FR"/>
              <a:t>Modifiez le style du titre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643852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fr-FR"/>
              <a:t>Modifiez le style du titre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222878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fr-FR"/>
              <a:t>Modifiez le style du titre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0709255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fr-FR"/>
              <a:t>Modifiez le style du titre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dirty="0"/>
              <a:t>Cliquez sur l'icône pour ajouter une image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dirty="0"/>
              <a:t>Cliquez sur l'icône pour ajouter une image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fr-FR" dirty="0"/>
              <a:t>Cliquez sur l'icône pour ajouter une image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3144116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4816394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0864B9F-7CB0-4E74-A2E4-9494BDFD287E}" type="datetimeFigureOut">
              <a:rPr lang="fr-FR" smtClean="0"/>
              <a:t>28/06/2025</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19D12F2E-9370-4EB0-8BA0-6A81FD85BE6C}" type="slidenum">
              <a:rPr lang="fr-FR" smtClean="0"/>
              <a:t>‹N°›</a:t>
            </a:fld>
            <a:endParaRPr lang="fr-FR" dirty="0"/>
          </a:p>
        </p:txBody>
      </p:sp>
    </p:spTree>
    <p:extLst>
      <p:ext uri="{BB962C8B-B14F-4D97-AF65-F5344CB8AC3E}">
        <p14:creationId xmlns:p14="http://schemas.microsoft.com/office/powerpoint/2010/main" val="940665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0864B9F-7CB0-4E74-A2E4-9494BDFD287E}" type="datetimeFigureOut">
              <a:rPr lang="fr-FR" smtClean="0"/>
              <a:t>28/06/2025</a:t>
            </a:fld>
            <a:endParaRPr lang="fr-FR"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9D12F2E-9370-4EB0-8BA0-6A81FD85BE6C}" type="slidenum">
              <a:rPr lang="fr-FR" smtClean="0"/>
              <a:t>‹N°›</a:t>
            </a:fld>
            <a:endParaRPr lang="fr-FR" dirty="0"/>
          </a:p>
        </p:txBody>
      </p:sp>
    </p:spTree>
    <p:extLst>
      <p:ext uri="{BB962C8B-B14F-4D97-AF65-F5344CB8AC3E}">
        <p14:creationId xmlns:p14="http://schemas.microsoft.com/office/powerpoint/2010/main" val="2581947361"/>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5" name="Picture 4" descr="Arrière-plan flou abstrait d'un grand magasin">
            <a:extLst>
              <a:ext uri="{FF2B5EF4-FFF2-40B4-BE49-F238E27FC236}">
                <a16:creationId xmlns:a16="http://schemas.microsoft.com/office/drawing/2014/main" id="{311BD766-9295-6885-BEFF-B54B3D24BA10}"/>
              </a:ext>
            </a:extLst>
          </p:cNvPr>
          <p:cNvPicPr>
            <a:picLocks noChangeAspect="1"/>
          </p:cNvPicPr>
          <p:nvPr/>
        </p:nvPicPr>
        <p:blipFill>
          <a:blip r:embed="rId2">
            <a:duotone>
              <a:schemeClr val="bg2">
                <a:shade val="45000"/>
                <a:satMod val="135000"/>
              </a:schemeClr>
              <a:prstClr val="white"/>
            </a:duotone>
            <a:alphaModFix amt="25000"/>
          </a:blip>
          <a:srcRect b="15730"/>
          <a:stretch>
            <a:fillRect/>
          </a:stretch>
        </p:blipFill>
        <p:spPr>
          <a:xfrm>
            <a:off x="-98964" y="-166678"/>
            <a:ext cx="12191980" cy="6857990"/>
          </a:xfrm>
          <a:prstGeom prst="rect">
            <a:avLst/>
          </a:prstGeom>
        </p:spPr>
      </p:pic>
      <p:sp>
        <p:nvSpPr>
          <p:cNvPr id="2" name="Titre 1">
            <a:extLst>
              <a:ext uri="{FF2B5EF4-FFF2-40B4-BE49-F238E27FC236}">
                <a16:creationId xmlns:a16="http://schemas.microsoft.com/office/drawing/2014/main" id="{F6F38F58-F1B1-CE6A-8895-1B726B3B283A}"/>
              </a:ext>
            </a:extLst>
          </p:cNvPr>
          <p:cNvSpPr>
            <a:spLocks noGrp="1"/>
          </p:cNvSpPr>
          <p:nvPr>
            <p:ph type="ctrTitle"/>
          </p:nvPr>
        </p:nvSpPr>
        <p:spPr>
          <a:xfrm>
            <a:off x="1996854" y="1731680"/>
            <a:ext cx="8791575" cy="2387600"/>
          </a:xfrm>
        </p:spPr>
        <p:txBody>
          <a:bodyPr>
            <a:normAutofit/>
          </a:bodyPr>
          <a:lstStyle/>
          <a:p>
            <a:r>
              <a:rPr lang="fr-FR" sz="5400" i="1" dirty="0"/>
              <a:t>Optimisez la gestion &amp; nettoyez les données du stock d'une boutique</a:t>
            </a:r>
          </a:p>
        </p:txBody>
      </p:sp>
      <p:sp>
        <p:nvSpPr>
          <p:cNvPr id="3" name="Sous-titre 2">
            <a:extLst>
              <a:ext uri="{FF2B5EF4-FFF2-40B4-BE49-F238E27FC236}">
                <a16:creationId xmlns:a16="http://schemas.microsoft.com/office/drawing/2014/main" id="{92EDECAF-CA59-666B-EBE7-2B3B3E54819E}"/>
              </a:ext>
            </a:extLst>
          </p:cNvPr>
          <p:cNvSpPr>
            <a:spLocks noGrp="1"/>
          </p:cNvSpPr>
          <p:nvPr>
            <p:ph type="subTitle" idx="1"/>
          </p:nvPr>
        </p:nvSpPr>
        <p:spPr>
          <a:xfrm>
            <a:off x="9655857" y="6400800"/>
            <a:ext cx="2500533" cy="581024"/>
          </a:xfrm>
        </p:spPr>
        <p:txBody>
          <a:bodyPr>
            <a:normAutofit/>
          </a:bodyPr>
          <a:lstStyle/>
          <a:p>
            <a:r>
              <a:rPr lang="fr-FR" dirty="0">
                <a:solidFill>
                  <a:schemeClr val="tx1">
                    <a:lumMod val="65000"/>
                    <a:lumOff val="35000"/>
                  </a:schemeClr>
                </a:solidFill>
              </a:rPr>
              <a:t>Par Noura OUSFIA</a:t>
            </a:r>
          </a:p>
        </p:txBody>
      </p:sp>
    </p:spTree>
    <p:extLst>
      <p:ext uri="{BB962C8B-B14F-4D97-AF65-F5344CB8AC3E}">
        <p14:creationId xmlns:p14="http://schemas.microsoft.com/office/powerpoint/2010/main" val="156758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5AC737F-C8C2-4FDC-B3E1-0AE40B8282C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EE982B-7210-6422-6190-46E39C6CE36E}"/>
              </a:ext>
            </a:extLst>
          </p:cNvPr>
          <p:cNvSpPr>
            <a:spLocks noGrp="1"/>
          </p:cNvSpPr>
          <p:nvPr>
            <p:ph type="title"/>
          </p:nvPr>
        </p:nvSpPr>
        <p:spPr>
          <a:xfrm>
            <a:off x="4589482" y="0"/>
            <a:ext cx="3178391" cy="1596177"/>
          </a:xfrm>
        </p:spPr>
        <p:txBody>
          <a:bodyPr>
            <a:normAutofit/>
          </a:bodyPr>
          <a:lstStyle/>
          <a:p>
            <a:r>
              <a:rPr lang="fr-FR" sz="4000" dirty="0">
                <a:solidFill>
                  <a:srgbClr val="C00000"/>
                </a:solidFill>
              </a:rPr>
              <a:t>Sommaire</a:t>
            </a:r>
          </a:p>
        </p:txBody>
      </p:sp>
      <p:sp>
        <p:nvSpPr>
          <p:cNvPr id="3" name="Espace réservé du contenu 2">
            <a:extLst>
              <a:ext uri="{FF2B5EF4-FFF2-40B4-BE49-F238E27FC236}">
                <a16:creationId xmlns:a16="http://schemas.microsoft.com/office/drawing/2014/main" id="{EA7AE518-166E-099A-F1C5-80FADF79D923}"/>
              </a:ext>
            </a:extLst>
          </p:cNvPr>
          <p:cNvSpPr>
            <a:spLocks noGrp="1"/>
          </p:cNvSpPr>
          <p:nvPr>
            <p:ph idx="1"/>
          </p:nvPr>
        </p:nvSpPr>
        <p:spPr>
          <a:xfrm>
            <a:off x="1176326" y="1894153"/>
            <a:ext cx="10525752" cy="4108295"/>
          </a:xfrm>
        </p:spPr>
        <p:txBody>
          <a:bodyPr>
            <a:normAutofit/>
          </a:bodyPr>
          <a:lstStyle/>
          <a:p>
            <a:pPr marL="514350" indent="-514350">
              <a:buFont typeface="+mj-lt"/>
              <a:buAutoNum type="romanUcPeriod"/>
            </a:pPr>
            <a:r>
              <a:rPr lang="fr-FR" sz="2000" dirty="0"/>
              <a:t>Introduction</a:t>
            </a:r>
          </a:p>
          <a:p>
            <a:pPr marL="514350" indent="-514350">
              <a:buFont typeface="+mj-lt"/>
              <a:buAutoNum type="romanUcPeriod"/>
            </a:pPr>
            <a:r>
              <a:rPr lang="fr-FR" sz="2000" dirty="0"/>
              <a:t>Objectifs de la mission</a:t>
            </a:r>
          </a:p>
          <a:p>
            <a:pPr marL="514350" indent="-514350">
              <a:buFont typeface="+mj-lt"/>
              <a:buAutoNum type="romanUcPeriod"/>
            </a:pPr>
            <a:r>
              <a:rPr lang="fr-FR" sz="2000" dirty="0"/>
              <a:t>Sources de données</a:t>
            </a:r>
          </a:p>
          <a:p>
            <a:pPr marL="514350" indent="-514350">
              <a:buFont typeface="+mj-lt"/>
              <a:buAutoNum type="romanUcPeriod"/>
            </a:pPr>
            <a:r>
              <a:rPr lang="fr-FR" sz="2000" dirty="0"/>
              <a:t>Méthodologie de traitement et de nettoyage des données</a:t>
            </a:r>
          </a:p>
          <a:p>
            <a:pPr marL="514350" indent="-514350">
              <a:buFont typeface="+mj-lt"/>
              <a:buAutoNum type="romanUcPeriod"/>
            </a:pPr>
            <a:r>
              <a:rPr lang="fr-FR" sz="2000" dirty="0"/>
              <a:t>Fusion des fichiers</a:t>
            </a:r>
          </a:p>
          <a:p>
            <a:pPr marL="514350" indent="-514350">
              <a:buFont typeface="+mj-lt"/>
              <a:buAutoNum type="romanUcPeriod"/>
            </a:pPr>
            <a:r>
              <a:rPr lang="fr-FR" sz="2000" dirty="0"/>
              <a:t>Analyse exploratoire</a:t>
            </a:r>
          </a:p>
          <a:p>
            <a:pPr marL="514350" indent="-514350">
              <a:buFont typeface="+mj-lt"/>
              <a:buAutoNum type="romanUcPeriod"/>
            </a:pPr>
            <a:r>
              <a:rPr lang="fr-FR" sz="2000" dirty="0"/>
              <a:t>Conclusion &amp; Recommandation	</a:t>
            </a:r>
          </a:p>
          <a:p>
            <a:pPr marL="514350" indent="-514350">
              <a:buFont typeface="+mj-lt"/>
              <a:buAutoNum type="romanUcPeriod"/>
            </a:pPr>
            <a:endParaRPr lang="fr-FR" sz="2000" dirty="0"/>
          </a:p>
          <a:p>
            <a:pPr marL="514350" indent="-514350">
              <a:buFont typeface="+mj-lt"/>
              <a:buAutoNum type="romanUcPeriod"/>
            </a:pPr>
            <a:endParaRPr lang="fr-FR" sz="2000" dirty="0"/>
          </a:p>
        </p:txBody>
      </p:sp>
    </p:spTree>
    <p:extLst>
      <p:ext uri="{BB962C8B-B14F-4D97-AF65-F5344CB8AC3E}">
        <p14:creationId xmlns:p14="http://schemas.microsoft.com/office/powerpoint/2010/main" val="393653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E3410E-31A7-D626-D80B-930949C77564}"/>
              </a:ext>
            </a:extLst>
          </p:cNvPr>
          <p:cNvSpPr>
            <a:spLocks noGrp="1"/>
          </p:cNvSpPr>
          <p:nvPr>
            <p:ph type="title"/>
          </p:nvPr>
        </p:nvSpPr>
        <p:spPr>
          <a:xfrm>
            <a:off x="913775" y="618517"/>
            <a:ext cx="7859564" cy="1596177"/>
          </a:xfrm>
        </p:spPr>
        <p:txBody>
          <a:bodyPr>
            <a:normAutofit/>
          </a:bodyPr>
          <a:lstStyle/>
          <a:p>
            <a:r>
              <a:rPr lang="fr-FR" sz="4000" dirty="0">
                <a:solidFill>
                  <a:srgbClr val="C00000"/>
                </a:solidFill>
              </a:rPr>
              <a:t>Introduction</a:t>
            </a:r>
          </a:p>
        </p:txBody>
      </p:sp>
      <p:sp>
        <p:nvSpPr>
          <p:cNvPr id="3" name="Espace réservé du contenu 2">
            <a:extLst>
              <a:ext uri="{FF2B5EF4-FFF2-40B4-BE49-F238E27FC236}">
                <a16:creationId xmlns:a16="http://schemas.microsoft.com/office/drawing/2014/main" id="{7B6BD5CE-3B91-D7B6-B4B0-9571AE74D18C}"/>
              </a:ext>
            </a:extLst>
          </p:cNvPr>
          <p:cNvSpPr>
            <a:spLocks noGrp="1"/>
          </p:cNvSpPr>
          <p:nvPr>
            <p:ph idx="1"/>
          </p:nvPr>
        </p:nvSpPr>
        <p:spPr>
          <a:xfrm>
            <a:off x="913775" y="2600324"/>
            <a:ext cx="10525752" cy="2042983"/>
          </a:xfrm>
        </p:spPr>
        <p:txBody>
          <a:bodyPr>
            <a:normAutofit/>
          </a:bodyPr>
          <a:lstStyle/>
          <a:p>
            <a:pPr marL="0" indent="0">
              <a:buNone/>
            </a:pPr>
            <a:r>
              <a:rPr lang="fr-FR" sz="2000" dirty="0"/>
              <a:t>	L’entreprise </a:t>
            </a:r>
            <a:r>
              <a:rPr lang="fr-FR" sz="2000" b="1" i="1" dirty="0"/>
              <a:t>Bottelneck</a:t>
            </a:r>
            <a:r>
              <a:rPr lang="fr-FR" sz="2000" dirty="0"/>
              <a:t> rencontre actuellement des difficultés pour analyser ses données de ventes et de stock. Les outils utilisés sont artisanaux, et les différentes sources de données (ERP, site web, table de liaison) ne sont pas alignées, ce qui complique fortement l’exploitation fiable des informations.</a:t>
            </a:r>
          </a:p>
        </p:txBody>
      </p:sp>
    </p:spTree>
    <p:extLst>
      <p:ext uri="{BB962C8B-B14F-4D97-AF65-F5344CB8AC3E}">
        <p14:creationId xmlns:p14="http://schemas.microsoft.com/office/powerpoint/2010/main" val="1427249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84" name="Group 83">
            <a:extLst>
              <a:ext uri="{FF2B5EF4-FFF2-40B4-BE49-F238E27FC236}">
                <a16:creationId xmlns:a16="http://schemas.microsoft.com/office/drawing/2014/main" id="{A0B38558-5389-4817-936F-FD62560CAC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85" name="Rectangle 84">
              <a:extLst>
                <a:ext uri="{FF2B5EF4-FFF2-40B4-BE49-F238E27FC236}">
                  <a16:creationId xmlns:a16="http://schemas.microsoft.com/office/drawing/2014/main" id="{CCB252B9-42EF-4414-AA22-2A95C1819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6" name="Picture 2">
              <a:extLst>
                <a:ext uri="{FF2B5EF4-FFF2-40B4-BE49-F238E27FC236}">
                  <a16:creationId xmlns:a16="http://schemas.microsoft.com/office/drawing/2014/main" id="{F9C2C800-C3E3-4317-A3CC-1558D71F14BC}"/>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78" name="Picture 4" descr="Calculatrice, stylo, boussole, argent et un papier avec graphiques imprimés">
            <a:extLst>
              <a:ext uri="{FF2B5EF4-FFF2-40B4-BE49-F238E27FC236}">
                <a16:creationId xmlns:a16="http://schemas.microsoft.com/office/drawing/2014/main" id="{1A514F63-72B3-FD45-7CB7-73134091B042}"/>
              </a:ext>
            </a:extLst>
          </p:cNvPr>
          <p:cNvPicPr>
            <a:picLocks noChangeAspect="1"/>
          </p:cNvPicPr>
          <p:nvPr/>
        </p:nvPicPr>
        <p:blipFill>
          <a:blip r:embed="rId4">
            <a:alphaModFix/>
          </a:blip>
          <a:srcRect b="6612"/>
          <a:stretch>
            <a:fillRect/>
          </a:stretch>
        </p:blipFill>
        <p:spPr>
          <a:xfrm>
            <a:off x="3611" y="10"/>
            <a:ext cx="12188389" cy="6857990"/>
          </a:xfrm>
          <a:prstGeom prst="rect">
            <a:avLst/>
          </a:prstGeom>
        </p:spPr>
      </p:pic>
      <p:grpSp>
        <p:nvGrpSpPr>
          <p:cNvPr id="88" name="Group 87">
            <a:extLst>
              <a:ext uri="{FF2B5EF4-FFF2-40B4-BE49-F238E27FC236}">
                <a16:creationId xmlns:a16="http://schemas.microsoft.com/office/drawing/2014/main" id="{15502586-682B-4EDF-9515-674BB4E1CD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11455400" cy="6848476"/>
            <a:chOff x="372533" y="0"/>
            <a:chExt cx="11455400" cy="6848476"/>
          </a:xfrm>
        </p:grpSpPr>
        <p:sp>
          <p:nvSpPr>
            <p:cNvPr id="89" name="Round Diagonal Corner Rectangle 7">
              <a:extLst>
                <a:ext uri="{FF2B5EF4-FFF2-40B4-BE49-F238E27FC236}">
                  <a16:creationId xmlns:a16="http://schemas.microsoft.com/office/drawing/2014/main" id="{C4491F87-B86B-413A-ACCD-56525E5330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90" name="Group 89">
              <a:extLst>
                <a:ext uri="{FF2B5EF4-FFF2-40B4-BE49-F238E27FC236}">
                  <a16:creationId xmlns:a16="http://schemas.microsoft.com/office/drawing/2014/main" id="{04A25545-7FDA-465A-8546-9D927F8286F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10" name="Freeform 32">
                <a:extLst>
                  <a:ext uri="{FF2B5EF4-FFF2-40B4-BE49-F238E27FC236}">
                    <a16:creationId xmlns:a16="http://schemas.microsoft.com/office/drawing/2014/main" id="{0AC67F09-E0D9-410A-A4DE-72D31697E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fr-FR" dirty="0"/>
              </a:p>
            </p:txBody>
          </p:sp>
          <p:sp>
            <p:nvSpPr>
              <p:cNvPr id="111" name="Freeform 33">
                <a:extLst>
                  <a:ext uri="{FF2B5EF4-FFF2-40B4-BE49-F238E27FC236}">
                    <a16:creationId xmlns:a16="http://schemas.microsoft.com/office/drawing/2014/main" id="{B78F2FDE-85C9-4650-919F-C35464007D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fr-FR" dirty="0"/>
              </a:p>
            </p:txBody>
          </p:sp>
          <p:sp>
            <p:nvSpPr>
              <p:cNvPr id="112" name="Freeform 34">
                <a:extLst>
                  <a:ext uri="{FF2B5EF4-FFF2-40B4-BE49-F238E27FC236}">
                    <a16:creationId xmlns:a16="http://schemas.microsoft.com/office/drawing/2014/main" id="{57DD2F8B-5242-455C-B03F-E2F6B6732E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113" name="Freeform 37">
                <a:extLst>
                  <a:ext uri="{FF2B5EF4-FFF2-40B4-BE49-F238E27FC236}">
                    <a16:creationId xmlns:a16="http://schemas.microsoft.com/office/drawing/2014/main" id="{B8CE3E90-8A76-4CD5-B28C-D71FF371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fr-FR" dirty="0"/>
              </a:p>
            </p:txBody>
          </p:sp>
        </p:grpSp>
        <p:grpSp>
          <p:nvGrpSpPr>
            <p:cNvPr id="91" name="Group 90">
              <a:extLst>
                <a:ext uri="{FF2B5EF4-FFF2-40B4-BE49-F238E27FC236}">
                  <a16:creationId xmlns:a16="http://schemas.microsoft.com/office/drawing/2014/main" id="{4C374541-D033-4B72-A232-5461EEAD4DF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104" name="Freeform 35">
                <a:extLst>
                  <a:ext uri="{FF2B5EF4-FFF2-40B4-BE49-F238E27FC236}">
                    <a16:creationId xmlns:a16="http://schemas.microsoft.com/office/drawing/2014/main" id="{94766BAB-FE6E-4247-886B-736F831FE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fr-FR" dirty="0"/>
              </a:p>
            </p:txBody>
          </p:sp>
          <p:sp>
            <p:nvSpPr>
              <p:cNvPr id="105" name="Freeform 36">
                <a:extLst>
                  <a:ext uri="{FF2B5EF4-FFF2-40B4-BE49-F238E27FC236}">
                    <a16:creationId xmlns:a16="http://schemas.microsoft.com/office/drawing/2014/main" id="{3C954FB2-C7A0-468C-8AD2-C278DCA6421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fr-FR" dirty="0"/>
              </a:p>
            </p:txBody>
          </p:sp>
          <p:sp>
            <p:nvSpPr>
              <p:cNvPr id="106" name="Freeform 38">
                <a:extLst>
                  <a:ext uri="{FF2B5EF4-FFF2-40B4-BE49-F238E27FC236}">
                    <a16:creationId xmlns:a16="http://schemas.microsoft.com/office/drawing/2014/main" id="{F52FBFD5-A528-4DB8-A802-814A7E421D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107" name="Freeform 39">
                <a:extLst>
                  <a:ext uri="{FF2B5EF4-FFF2-40B4-BE49-F238E27FC236}">
                    <a16:creationId xmlns:a16="http://schemas.microsoft.com/office/drawing/2014/main" id="{E57CCB6D-72AF-4D41-8C6C-9750D43DC6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fr-FR" dirty="0"/>
              </a:p>
            </p:txBody>
          </p:sp>
          <p:sp>
            <p:nvSpPr>
              <p:cNvPr id="108" name="Freeform 40">
                <a:extLst>
                  <a:ext uri="{FF2B5EF4-FFF2-40B4-BE49-F238E27FC236}">
                    <a16:creationId xmlns:a16="http://schemas.microsoft.com/office/drawing/2014/main" id="{19D203AA-CF94-405B-800C-0C798552188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109" name="Rectangle 41">
                <a:extLst>
                  <a:ext uri="{FF2B5EF4-FFF2-40B4-BE49-F238E27FC236}">
                    <a16:creationId xmlns:a16="http://schemas.microsoft.com/office/drawing/2014/main" id="{7D053665-E810-419F-9D63-2A54CB47738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fr-FR" dirty="0"/>
              </a:p>
            </p:txBody>
          </p:sp>
        </p:grpSp>
        <p:grpSp>
          <p:nvGrpSpPr>
            <p:cNvPr id="92" name="Group 91">
              <a:extLst>
                <a:ext uri="{FF2B5EF4-FFF2-40B4-BE49-F238E27FC236}">
                  <a16:creationId xmlns:a16="http://schemas.microsoft.com/office/drawing/2014/main" id="{DEAF6153-6BF6-448C-81C1-2817B0F7800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100" name="Freeform 32">
                <a:extLst>
                  <a:ext uri="{FF2B5EF4-FFF2-40B4-BE49-F238E27FC236}">
                    <a16:creationId xmlns:a16="http://schemas.microsoft.com/office/drawing/2014/main" id="{A7E0D3C0-552C-4741-AFBE-E665CEA068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fr-FR" dirty="0"/>
              </a:p>
            </p:txBody>
          </p:sp>
          <p:sp>
            <p:nvSpPr>
              <p:cNvPr id="101" name="Freeform 33">
                <a:extLst>
                  <a:ext uri="{FF2B5EF4-FFF2-40B4-BE49-F238E27FC236}">
                    <a16:creationId xmlns:a16="http://schemas.microsoft.com/office/drawing/2014/main" id="{CAF96EBF-4E74-4F88-BD05-A4AE1694A45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fr-FR" dirty="0"/>
              </a:p>
            </p:txBody>
          </p:sp>
          <p:sp>
            <p:nvSpPr>
              <p:cNvPr id="102" name="Freeform 34">
                <a:extLst>
                  <a:ext uri="{FF2B5EF4-FFF2-40B4-BE49-F238E27FC236}">
                    <a16:creationId xmlns:a16="http://schemas.microsoft.com/office/drawing/2014/main" id="{D49C51B9-E4E4-410D-8AAB-7E308A1D45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103" name="Freeform 37">
                <a:extLst>
                  <a:ext uri="{FF2B5EF4-FFF2-40B4-BE49-F238E27FC236}">
                    <a16:creationId xmlns:a16="http://schemas.microsoft.com/office/drawing/2014/main" id="{354F0627-1BD6-4455-967A-32DB31C82C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fr-FR" dirty="0"/>
              </a:p>
            </p:txBody>
          </p:sp>
        </p:grpSp>
        <p:grpSp>
          <p:nvGrpSpPr>
            <p:cNvPr id="93" name="Group 92">
              <a:extLst>
                <a:ext uri="{FF2B5EF4-FFF2-40B4-BE49-F238E27FC236}">
                  <a16:creationId xmlns:a16="http://schemas.microsoft.com/office/drawing/2014/main" id="{BC21AED9-0CB5-426C-A1C4-6EEB548050D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94" name="Freeform 35">
                <a:extLst>
                  <a:ext uri="{FF2B5EF4-FFF2-40B4-BE49-F238E27FC236}">
                    <a16:creationId xmlns:a16="http://schemas.microsoft.com/office/drawing/2014/main" id="{8D8A778B-9916-47AC-A28A-07F01A83F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fr-FR" dirty="0"/>
              </a:p>
            </p:txBody>
          </p:sp>
          <p:sp>
            <p:nvSpPr>
              <p:cNvPr id="95" name="Freeform 36">
                <a:extLst>
                  <a:ext uri="{FF2B5EF4-FFF2-40B4-BE49-F238E27FC236}">
                    <a16:creationId xmlns:a16="http://schemas.microsoft.com/office/drawing/2014/main" id="{65323B96-DF0E-463C-B290-C22D3C5532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fr-FR" dirty="0"/>
              </a:p>
            </p:txBody>
          </p:sp>
          <p:sp>
            <p:nvSpPr>
              <p:cNvPr id="96" name="Freeform 38">
                <a:extLst>
                  <a:ext uri="{FF2B5EF4-FFF2-40B4-BE49-F238E27FC236}">
                    <a16:creationId xmlns:a16="http://schemas.microsoft.com/office/drawing/2014/main" id="{65A0E255-1142-422E-A62A-5044177C5A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97" name="Freeform 39">
                <a:extLst>
                  <a:ext uri="{FF2B5EF4-FFF2-40B4-BE49-F238E27FC236}">
                    <a16:creationId xmlns:a16="http://schemas.microsoft.com/office/drawing/2014/main" id="{233A955D-DB0D-42F8-B490-E01FB9C45C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fr-FR" dirty="0"/>
              </a:p>
            </p:txBody>
          </p:sp>
          <p:sp>
            <p:nvSpPr>
              <p:cNvPr id="98" name="Freeform 40">
                <a:extLst>
                  <a:ext uri="{FF2B5EF4-FFF2-40B4-BE49-F238E27FC236}">
                    <a16:creationId xmlns:a16="http://schemas.microsoft.com/office/drawing/2014/main" id="{F0F0C29B-EB52-470C-AF64-FC54F5C250F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fr-FR" dirty="0"/>
              </a:p>
            </p:txBody>
          </p:sp>
          <p:sp>
            <p:nvSpPr>
              <p:cNvPr id="99" name="Rectangle 41">
                <a:extLst>
                  <a:ext uri="{FF2B5EF4-FFF2-40B4-BE49-F238E27FC236}">
                    <a16:creationId xmlns:a16="http://schemas.microsoft.com/office/drawing/2014/main" id="{A6C0E942-454D-483D-84FB-89308C8F15B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fr-FR" dirty="0"/>
              </a:p>
            </p:txBody>
          </p:sp>
        </p:grpSp>
      </p:grpSp>
      <p:sp>
        <p:nvSpPr>
          <p:cNvPr id="2" name="Titre 1">
            <a:extLst>
              <a:ext uri="{FF2B5EF4-FFF2-40B4-BE49-F238E27FC236}">
                <a16:creationId xmlns:a16="http://schemas.microsoft.com/office/drawing/2014/main" id="{F980A573-B428-1D96-7FE9-88C50FF9E011}"/>
              </a:ext>
            </a:extLst>
          </p:cNvPr>
          <p:cNvSpPr>
            <a:spLocks noGrp="1"/>
          </p:cNvSpPr>
          <p:nvPr>
            <p:ph type="title"/>
          </p:nvPr>
        </p:nvSpPr>
        <p:spPr>
          <a:xfrm>
            <a:off x="1143001" y="1007533"/>
            <a:ext cx="9905998" cy="1092200"/>
          </a:xfrm>
        </p:spPr>
        <p:txBody>
          <a:bodyPr>
            <a:normAutofit/>
          </a:bodyPr>
          <a:lstStyle/>
          <a:p>
            <a:pPr algn="ctr"/>
            <a:r>
              <a:rPr lang="fr-FR" b="1" dirty="0">
                <a:solidFill>
                  <a:srgbClr val="C00000"/>
                </a:solidFill>
              </a:rPr>
              <a:t>Objectif de la mission</a:t>
            </a:r>
            <a:endParaRPr lang="fr-FR" dirty="0">
              <a:solidFill>
                <a:srgbClr val="C00000"/>
              </a:solidFill>
            </a:endParaRPr>
          </a:p>
        </p:txBody>
      </p:sp>
      <p:sp>
        <p:nvSpPr>
          <p:cNvPr id="79" name="Espace réservé du contenu 2">
            <a:extLst>
              <a:ext uri="{FF2B5EF4-FFF2-40B4-BE49-F238E27FC236}">
                <a16:creationId xmlns:a16="http://schemas.microsoft.com/office/drawing/2014/main" id="{C7E13BE3-AB79-D756-672B-B39AD12455A1}"/>
              </a:ext>
            </a:extLst>
          </p:cNvPr>
          <p:cNvSpPr>
            <a:spLocks noGrp="1"/>
          </p:cNvSpPr>
          <p:nvPr>
            <p:ph idx="1"/>
          </p:nvPr>
        </p:nvSpPr>
        <p:spPr>
          <a:xfrm>
            <a:off x="1139031" y="2099733"/>
            <a:ext cx="9905999" cy="3454399"/>
          </a:xfrm>
        </p:spPr>
        <p:txBody>
          <a:bodyPr anchor="ctr">
            <a:normAutofit/>
          </a:bodyPr>
          <a:lstStyle/>
          <a:p>
            <a:pPr marL="0" indent="0">
              <a:buNone/>
            </a:pPr>
            <a:r>
              <a:rPr lang="fr-FR" sz="2000" b="1" i="1" dirty="0"/>
              <a:t>Phase 1 </a:t>
            </a:r>
            <a:r>
              <a:rPr lang="fr-FR" sz="2000" b="1" dirty="0"/>
              <a:t>: I</a:t>
            </a:r>
            <a:r>
              <a:rPr lang="fr-FR" sz="2000" dirty="0"/>
              <a:t>dentifier et corriger les erreurs (saisie, jointure, doublons, incohérences de prix, etc.). Ensuite fusionner proprement les différentes bases de données grâce à la table de correspondance.</a:t>
            </a:r>
          </a:p>
          <a:p>
            <a:pPr marL="0" indent="0">
              <a:buNone/>
            </a:pPr>
            <a:r>
              <a:rPr lang="fr-FR" sz="2000" b="1" i="1" dirty="0"/>
              <a:t>Phase 2 </a:t>
            </a:r>
            <a:r>
              <a:rPr lang="fr-FR" sz="2000" b="1" dirty="0"/>
              <a:t>:</a:t>
            </a:r>
            <a:r>
              <a:rPr lang="fr-FR" sz="2000" dirty="0"/>
              <a:t> Réaliser une analyse complète pour le comité de direction (CODIR) afin de Suivre les ventes et le chiffre d’affaires.</a:t>
            </a:r>
          </a:p>
        </p:txBody>
      </p:sp>
    </p:spTree>
    <p:extLst>
      <p:ext uri="{BB962C8B-B14F-4D97-AF65-F5344CB8AC3E}">
        <p14:creationId xmlns:p14="http://schemas.microsoft.com/office/powerpoint/2010/main" val="665129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CE92D871-9E34-3492-0FFF-1296762D531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D6943E-9E5F-EFF9-C837-5F1F728B2571}"/>
              </a:ext>
            </a:extLst>
          </p:cNvPr>
          <p:cNvSpPr>
            <a:spLocks noGrp="1"/>
          </p:cNvSpPr>
          <p:nvPr>
            <p:ph type="title"/>
          </p:nvPr>
        </p:nvSpPr>
        <p:spPr>
          <a:xfrm>
            <a:off x="1348342" y="600410"/>
            <a:ext cx="7859564" cy="1596177"/>
          </a:xfrm>
        </p:spPr>
        <p:txBody>
          <a:bodyPr>
            <a:normAutofit/>
          </a:bodyPr>
          <a:lstStyle/>
          <a:p>
            <a:r>
              <a:rPr lang="fr-FR" sz="4000" dirty="0">
                <a:solidFill>
                  <a:srgbClr val="C00000"/>
                </a:solidFill>
              </a:rPr>
              <a:t>Sources de données</a:t>
            </a:r>
          </a:p>
        </p:txBody>
      </p:sp>
      <p:sp>
        <p:nvSpPr>
          <p:cNvPr id="3" name="Espace réservé du contenu 2">
            <a:extLst>
              <a:ext uri="{FF2B5EF4-FFF2-40B4-BE49-F238E27FC236}">
                <a16:creationId xmlns:a16="http://schemas.microsoft.com/office/drawing/2014/main" id="{82E3EBFB-33BD-609E-D585-95C64F56DB3A}"/>
              </a:ext>
            </a:extLst>
          </p:cNvPr>
          <p:cNvSpPr>
            <a:spLocks noGrp="1"/>
          </p:cNvSpPr>
          <p:nvPr>
            <p:ph idx="1"/>
          </p:nvPr>
        </p:nvSpPr>
        <p:spPr>
          <a:xfrm>
            <a:off x="913775" y="2600324"/>
            <a:ext cx="10525752" cy="2042983"/>
          </a:xfrm>
        </p:spPr>
        <p:txBody>
          <a:bodyPr>
            <a:normAutofit fontScale="62500" lnSpcReduction="20000"/>
          </a:bodyPr>
          <a:lstStyle/>
          <a:p>
            <a:pPr>
              <a:buFont typeface="Wingdings" panose="05000000000000000000" pitchFamily="2" charset="2"/>
              <a:buChar char="ü"/>
            </a:pPr>
            <a:r>
              <a:rPr lang="fr-FR" b="1" dirty="0"/>
              <a:t>erp.xlsx : données produits (prix, stock, statut).</a:t>
            </a:r>
            <a:br>
              <a:rPr lang="fr-FR" b="1" dirty="0"/>
            </a:br>
            <a:br>
              <a:rPr lang="fr-FR" b="1" dirty="0"/>
            </a:br>
            <a:endParaRPr lang="fr-FR" b="1" dirty="0"/>
          </a:p>
          <a:p>
            <a:pPr>
              <a:buFont typeface="Wingdings" panose="05000000000000000000" pitchFamily="2" charset="2"/>
              <a:buChar char="ü"/>
            </a:pPr>
            <a:r>
              <a:rPr lang="fr-FR" b="1" dirty="0"/>
              <a:t>web.xlsx : données de vente sur le site.</a:t>
            </a:r>
            <a:br>
              <a:rPr lang="fr-FR" b="1" dirty="0"/>
            </a:br>
            <a:br>
              <a:rPr lang="fr-FR" b="1" dirty="0"/>
            </a:br>
            <a:endParaRPr lang="fr-FR" b="1" dirty="0"/>
          </a:p>
          <a:p>
            <a:pPr>
              <a:buFont typeface="Wingdings" panose="05000000000000000000" pitchFamily="2" charset="2"/>
              <a:buChar char="ü"/>
            </a:pPr>
            <a:r>
              <a:rPr lang="fr-FR" b="1" dirty="0"/>
              <a:t>liaison.xlsx : table de correspondance product_id ↔ id_web.</a:t>
            </a:r>
            <a:endParaRPr lang="fr-FR" sz="1800" dirty="0"/>
          </a:p>
        </p:txBody>
      </p:sp>
    </p:spTree>
    <p:extLst>
      <p:ext uri="{BB962C8B-B14F-4D97-AF65-F5344CB8AC3E}">
        <p14:creationId xmlns:p14="http://schemas.microsoft.com/office/powerpoint/2010/main" val="562944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AC72858C-07AB-E600-74C7-4C62CB0B13F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090F346-073A-9A3F-D308-2D0BCA0868C0}"/>
              </a:ext>
            </a:extLst>
          </p:cNvPr>
          <p:cNvSpPr>
            <a:spLocks noGrp="1"/>
          </p:cNvSpPr>
          <p:nvPr>
            <p:ph type="title"/>
          </p:nvPr>
        </p:nvSpPr>
        <p:spPr>
          <a:xfrm>
            <a:off x="1140111" y="202058"/>
            <a:ext cx="10375896" cy="1235043"/>
          </a:xfrm>
        </p:spPr>
        <p:txBody>
          <a:bodyPr>
            <a:normAutofit/>
          </a:bodyPr>
          <a:lstStyle/>
          <a:p>
            <a:r>
              <a:rPr lang="fr-FR" sz="2800" dirty="0">
                <a:solidFill>
                  <a:srgbClr val="C00000"/>
                </a:solidFill>
              </a:rPr>
              <a:t>méthodologie de traitement et de nettoyage des données</a:t>
            </a:r>
            <a:endParaRPr lang="fr-FR" dirty="0">
              <a:solidFill>
                <a:srgbClr val="C00000"/>
              </a:solidFill>
            </a:endParaRPr>
          </a:p>
        </p:txBody>
      </p:sp>
      <p:sp>
        <p:nvSpPr>
          <p:cNvPr id="3" name="Espace réservé du contenu 2">
            <a:extLst>
              <a:ext uri="{FF2B5EF4-FFF2-40B4-BE49-F238E27FC236}">
                <a16:creationId xmlns:a16="http://schemas.microsoft.com/office/drawing/2014/main" id="{90A46361-6B1E-C288-5392-F4CCE1AD2931}"/>
              </a:ext>
            </a:extLst>
          </p:cNvPr>
          <p:cNvSpPr>
            <a:spLocks noGrp="1"/>
          </p:cNvSpPr>
          <p:nvPr>
            <p:ph idx="1"/>
          </p:nvPr>
        </p:nvSpPr>
        <p:spPr>
          <a:xfrm>
            <a:off x="990255" y="1319258"/>
            <a:ext cx="10525752" cy="5538742"/>
          </a:xfrm>
        </p:spPr>
        <p:txBody>
          <a:bodyPr>
            <a:normAutofit/>
          </a:bodyPr>
          <a:lstStyle/>
          <a:p>
            <a:pPr marL="457200" indent="-457200">
              <a:buFont typeface="+mj-lt"/>
              <a:buAutoNum type="arabicPeriod"/>
            </a:pPr>
            <a:r>
              <a:rPr lang="fr-FR" sz="1800" b="1" dirty="0">
                <a:solidFill>
                  <a:schemeClr val="tx2"/>
                </a:solidFill>
              </a:rPr>
              <a:t>Analyse exploratoire du fichier erp.xlsx</a:t>
            </a:r>
          </a:p>
          <a:p>
            <a:pPr marL="0" indent="0">
              <a:buNone/>
            </a:pPr>
            <a:r>
              <a:rPr lang="fr-FR" sz="1600" i="1" u="sng" dirty="0"/>
              <a:t>Dimensions</a:t>
            </a:r>
            <a:r>
              <a:rPr lang="fr-FR" sz="1600" dirty="0"/>
              <a:t> : Le tableau comporte 825 observations ou article(s) et 6 colonnes</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r>
              <a:rPr lang="fr-FR" sz="1600" i="1" u="sng" dirty="0"/>
              <a:t>Vérification des doublons</a:t>
            </a:r>
            <a:r>
              <a:rPr lang="fr-FR" sz="1600" dirty="0"/>
              <a:t> : Nombre de product_id en doublon est de 0</a:t>
            </a:r>
          </a:p>
          <a:p>
            <a:pPr marL="0" indent="0">
              <a:buNone/>
            </a:pPr>
            <a:r>
              <a:rPr lang="fr-FR" sz="1600" i="1" u="sng" dirty="0"/>
              <a:t>Correction des incohérentes de la colonne stock_quantity</a:t>
            </a:r>
            <a:r>
              <a:rPr lang="fr-FR" sz="1600" dirty="0"/>
              <a:t> : </a:t>
            </a:r>
          </a:p>
        </p:txBody>
      </p:sp>
      <p:pic>
        <p:nvPicPr>
          <p:cNvPr id="6" name="Image 5">
            <a:extLst>
              <a:ext uri="{FF2B5EF4-FFF2-40B4-BE49-F238E27FC236}">
                <a16:creationId xmlns:a16="http://schemas.microsoft.com/office/drawing/2014/main" id="{92EA5FA0-6488-98E9-6C55-F68234E17677}"/>
              </a:ext>
            </a:extLst>
          </p:cNvPr>
          <p:cNvPicPr>
            <a:picLocks noChangeAspect="1"/>
          </p:cNvPicPr>
          <p:nvPr/>
        </p:nvPicPr>
        <p:blipFill>
          <a:blip r:embed="rId2"/>
          <a:stretch>
            <a:fillRect/>
          </a:stretch>
        </p:blipFill>
        <p:spPr>
          <a:xfrm>
            <a:off x="3753503" y="2373375"/>
            <a:ext cx="4829849" cy="1495634"/>
          </a:xfrm>
          <a:prstGeom prst="rect">
            <a:avLst/>
          </a:prstGeom>
        </p:spPr>
      </p:pic>
      <p:pic>
        <p:nvPicPr>
          <p:cNvPr id="8" name="Image 7">
            <a:extLst>
              <a:ext uri="{FF2B5EF4-FFF2-40B4-BE49-F238E27FC236}">
                <a16:creationId xmlns:a16="http://schemas.microsoft.com/office/drawing/2014/main" id="{C360495A-A0E9-EB75-2243-8F928F79F090}"/>
              </a:ext>
            </a:extLst>
          </p:cNvPr>
          <p:cNvPicPr>
            <a:picLocks noChangeAspect="1"/>
          </p:cNvPicPr>
          <p:nvPr/>
        </p:nvPicPr>
        <p:blipFill>
          <a:blip r:embed="rId3"/>
          <a:stretch>
            <a:fillRect/>
          </a:stretch>
        </p:blipFill>
        <p:spPr>
          <a:xfrm>
            <a:off x="2013737" y="4886760"/>
            <a:ext cx="8868530" cy="1671790"/>
          </a:xfrm>
          <a:prstGeom prst="rect">
            <a:avLst/>
          </a:prstGeom>
        </p:spPr>
      </p:pic>
    </p:spTree>
    <p:extLst>
      <p:ext uri="{BB962C8B-B14F-4D97-AF65-F5344CB8AC3E}">
        <p14:creationId xmlns:p14="http://schemas.microsoft.com/office/powerpoint/2010/main" val="445255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1F2E78B-F584-0056-843E-0344F5513DB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64D0DF6-EC59-707D-0FEE-2B46D1487FFE}"/>
              </a:ext>
            </a:extLst>
          </p:cNvPr>
          <p:cNvSpPr>
            <a:spLocks noGrp="1"/>
          </p:cNvSpPr>
          <p:nvPr>
            <p:ph idx="1"/>
          </p:nvPr>
        </p:nvSpPr>
        <p:spPr>
          <a:xfrm>
            <a:off x="833124" y="623415"/>
            <a:ext cx="10525752" cy="5611169"/>
          </a:xfrm>
        </p:spPr>
        <p:txBody>
          <a:bodyPr>
            <a:normAutofit/>
          </a:bodyPr>
          <a:lstStyle/>
          <a:p>
            <a:pPr marL="0" indent="0">
              <a:buNone/>
            </a:pPr>
            <a:r>
              <a:rPr lang="fr-FR" sz="1800" i="1" u="sng" dirty="0"/>
              <a:t>Analyse de la variable PRIX</a:t>
            </a:r>
            <a:r>
              <a:rPr lang="fr-FR" sz="1800" dirty="0"/>
              <a:t> : </a:t>
            </a:r>
            <a:r>
              <a:rPr lang="fr-FR" sz="1600" dirty="0"/>
              <a:t>Nombres d'article avec un prix non renseigné : 0 </a:t>
            </a:r>
            <a:br>
              <a:rPr lang="fr-FR" sz="1800" dirty="0"/>
            </a:br>
            <a:endParaRPr lang="fr-FR" sz="1800"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r>
              <a:rPr lang="fr-FR" sz="1800" i="1" u="sng" dirty="0"/>
              <a:t>Analyse de la variable STOCK </a:t>
            </a:r>
            <a:r>
              <a:rPr lang="fr-FR" sz="1600" dirty="0"/>
              <a:t>: Nombre d'articles avec une quantité de stock non renseignée : 0 </a:t>
            </a:r>
            <a:br>
              <a:rPr lang="fr-FR" sz="1600" dirty="0"/>
            </a:br>
            <a:endParaRPr lang="fr-FR" sz="1600" dirty="0"/>
          </a:p>
          <a:p>
            <a:pPr marL="0" indent="0">
              <a:buNone/>
            </a:pPr>
            <a:endParaRPr lang="fr-FR" sz="1800" i="1" u="sng" dirty="0"/>
          </a:p>
          <a:p>
            <a:pPr marL="0" indent="0">
              <a:buNone/>
            </a:pPr>
            <a:endParaRPr lang="fr-FR" sz="1800" i="1" u="sng" dirty="0"/>
          </a:p>
          <a:p>
            <a:pPr marL="0" indent="0">
              <a:buNone/>
            </a:pPr>
            <a:endParaRPr lang="fr-FR" sz="1800" dirty="0"/>
          </a:p>
        </p:txBody>
      </p:sp>
      <p:sp>
        <p:nvSpPr>
          <p:cNvPr id="6" name="Rectangle 1">
            <a:extLst>
              <a:ext uri="{FF2B5EF4-FFF2-40B4-BE49-F238E27FC236}">
                <a16:creationId xmlns:a16="http://schemas.microsoft.com/office/drawing/2014/main" id="{C97DAB2E-2BB3-8D1A-C321-7D115956FB4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a:extLst>
              <a:ext uri="{FF2B5EF4-FFF2-40B4-BE49-F238E27FC236}">
                <a16:creationId xmlns:a16="http://schemas.microsoft.com/office/drawing/2014/main" id="{2A2B3245-5C9B-7A54-BAE9-A21CC6FC77AE}"/>
              </a:ext>
            </a:extLst>
          </p:cNvPr>
          <p:cNvPicPr>
            <a:picLocks noChangeAspect="1"/>
          </p:cNvPicPr>
          <p:nvPr/>
        </p:nvPicPr>
        <p:blipFill>
          <a:blip r:embed="rId2"/>
          <a:stretch>
            <a:fillRect/>
          </a:stretch>
        </p:blipFill>
        <p:spPr>
          <a:xfrm>
            <a:off x="2761784" y="1110724"/>
            <a:ext cx="6668431" cy="2448267"/>
          </a:xfrm>
          <a:prstGeom prst="rect">
            <a:avLst/>
          </a:prstGeom>
        </p:spPr>
      </p:pic>
      <p:sp>
        <p:nvSpPr>
          <p:cNvPr id="11" name="Rectangle 2">
            <a:extLst>
              <a:ext uri="{FF2B5EF4-FFF2-40B4-BE49-F238E27FC236}">
                <a16:creationId xmlns:a16="http://schemas.microsoft.com/office/drawing/2014/main" id="{A294CBA9-6D38-D82F-C3FF-0D33A213F56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3" name="Image 12">
            <a:extLst>
              <a:ext uri="{FF2B5EF4-FFF2-40B4-BE49-F238E27FC236}">
                <a16:creationId xmlns:a16="http://schemas.microsoft.com/office/drawing/2014/main" id="{D2C5EAFC-418C-9EB2-DF85-50150F531ADE}"/>
              </a:ext>
            </a:extLst>
          </p:cNvPr>
          <p:cNvPicPr>
            <a:picLocks noChangeAspect="1"/>
          </p:cNvPicPr>
          <p:nvPr/>
        </p:nvPicPr>
        <p:blipFill>
          <a:blip r:embed="rId3"/>
          <a:stretch>
            <a:fillRect/>
          </a:stretch>
        </p:blipFill>
        <p:spPr>
          <a:xfrm>
            <a:off x="3400186" y="4187889"/>
            <a:ext cx="6115904" cy="2534004"/>
          </a:xfrm>
          <a:prstGeom prst="rect">
            <a:avLst/>
          </a:prstGeom>
        </p:spPr>
      </p:pic>
    </p:spTree>
    <p:extLst>
      <p:ext uri="{BB962C8B-B14F-4D97-AF65-F5344CB8AC3E}">
        <p14:creationId xmlns:p14="http://schemas.microsoft.com/office/powerpoint/2010/main" val="4259635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39E2E940-D4A0-FDC8-CCAE-8E929CA55F1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5FC56F5-D675-8BF2-A166-A8C74187243F}"/>
              </a:ext>
            </a:extLst>
          </p:cNvPr>
          <p:cNvSpPr>
            <a:spLocks noGrp="1"/>
          </p:cNvSpPr>
          <p:nvPr>
            <p:ph idx="1"/>
          </p:nvPr>
        </p:nvSpPr>
        <p:spPr>
          <a:xfrm>
            <a:off x="1022417" y="183049"/>
            <a:ext cx="10525752" cy="4805410"/>
          </a:xfrm>
        </p:spPr>
        <p:txBody>
          <a:bodyPr>
            <a:normAutofit/>
          </a:bodyPr>
          <a:lstStyle/>
          <a:p>
            <a:pPr marL="0" indent="0">
              <a:buNone/>
            </a:pPr>
            <a:r>
              <a:rPr lang="fr-FR" sz="1800" dirty="0"/>
              <a:t>	</a:t>
            </a:r>
            <a:endParaRPr lang="fr-FR" sz="1800" i="1" u="sng" dirty="0"/>
          </a:p>
          <a:p>
            <a:pPr marL="0" indent="0">
              <a:buNone/>
            </a:pPr>
            <a:r>
              <a:rPr lang="fr-FR" sz="1800" i="1" u="sng" dirty="0"/>
              <a:t>Analyse de la variable ONSALE_WEB :</a:t>
            </a:r>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r>
              <a:rPr lang="fr-FR" sz="1800" i="1" u="sng" dirty="0"/>
              <a:t>Analyse de la variable prix d'achat :</a:t>
            </a:r>
          </a:p>
          <a:p>
            <a:pPr marL="0" indent="0">
              <a:buNone/>
            </a:pPr>
            <a:endParaRPr lang="fr-FR" sz="1800" dirty="0"/>
          </a:p>
        </p:txBody>
      </p:sp>
      <p:pic>
        <p:nvPicPr>
          <p:cNvPr id="9" name="Image 8">
            <a:extLst>
              <a:ext uri="{FF2B5EF4-FFF2-40B4-BE49-F238E27FC236}">
                <a16:creationId xmlns:a16="http://schemas.microsoft.com/office/drawing/2014/main" id="{0B9F0DFA-EF24-5442-62AB-A4C111C927AD}"/>
              </a:ext>
            </a:extLst>
          </p:cNvPr>
          <p:cNvPicPr>
            <a:picLocks noChangeAspect="1"/>
          </p:cNvPicPr>
          <p:nvPr/>
        </p:nvPicPr>
        <p:blipFill>
          <a:blip r:embed="rId2"/>
          <a:stretch>
            <a:fillRect/>
          </a:stretch>
        </p:blipFill>
        <p:spPr>
          <a:xfrm>
            <a:off x="3521109" y="1454409"/>
            <a:ext cx="4848902" cy="1657581"/>
          </a:xfrm>
          <a:prstGeom prst="rect">
            <a:avLst/>
          </a:prstGeom>
        </p:spPr>
      </p:pic>
      <p:pic>
        <p:nvPicPr>
          <p:cNvPr id="13" name="Image 12">
            <a:extLst>
              <a:ext uri="{FF2B5EF4-FFF2-40B4-BE49-F238E27FC236}">
                <a16:creationId xmlns:a16="http://schemas.microsoft.com/office/drawing/2014/main" id="{1F05DFEE-3BFD-BD0E-86FB-A1152EB0A89C}"/>
              </a:ext>
            </a:extLst>
          </p:cNvPr>
          <p:cNvPicPr>
            <a:picLocks noChangeAspect="1"/>
          </p:cNvPicPr>
          <p:nvPr/>
        </p:nvPicPr>
        <p:blipFill>
          <a:blip r:embed="rId3"/>
          <a:stretch>
            <a:fillRect/>
          </a:stretch>
        </p:blipFill>
        <p:spPr>
          <a:xfrm>
            <a:off x="3521109" y="4383349"/>
            <a:ext cx="5134692" cy="819264"/>
          </a:xfrm>
          <a:prstGeom prst="rect">
            <a:avLst/>
          </a:prstGeom>
        </p:spPr>
      </p:pic>
    </p:spTree>
    <p:extLst>
      <p:ext uri="{BB962C8B-B14F-4D97-AF65-F5344CB8AC3E}">
        <p14:creationId xmlns:p14="http://schemas.microsoft.com/office/powerpoint/2010/main" val="3052122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582F0BCD-BE81-513F-A86C-935AB8AAE58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0F6E9E1-EB90-A900-5DD9-1B0951C80288}"/>
              </a:ext>
            </a:extLst>
          </p:cNvPr>
          <p:cNvSpPr>
            <a:spLocks noGrp="1"/>
          </p:cNvSpPr>
          <p:nvPr>
            <p:ph idx="1"/>
          </p:nvPr>
        </p:nvSpPr>
        <p:spPr>
          <a:xfrm>
            <a:off x="1049576" y="784055"/>
            <a:ext cx="10525752" cy="5779707"/>
          </a:xfrm>
        </p:spPr>
        <p:txBody>
          <a:bodyPr>
            <a:normAutofit/>
          </a:bodyPr>
          <a:lstStyle/>
          <a:p>
            <a:pPr marL="0" indent="0">
              <a:buNone/>
            </a:pPr>
            <a:r>
              <a:rPr lang="fr-FR" sz="1800" dirty="0"/>
              <a:t>	</a:t>
            </a:r>
            <a:endParaRPr lang="fr-FR" sz="1800" i="1" u="sng" dirty="0"/>
          </a:p>
          <a:p>
            <a:pPr marL="0" indent="0">
              <a:buNone/>
            </a:pPr>
            <a:r>
              <a:rPr lang="fr-FR" sz="1800" i="1" u="sng" dirty="0"/>
              <a:t>Dimensions du dataset </a:t>
            </a:r>
            <a:r>
              <a:rPr lang="fr-FR" sz="1600" dirty="0"/>
              <a:t>: (1513, 29), nombre d'observations : 1513, nombre de caractéristiques : 29 </a:t>
            </a:r>
          </a:p>
          <a:p>
            <a:pPr marL="0" indent="0">
              <a:buNone/>
            </a:pPr>
            <a:r>
              <a:rPr lang="fr-FR" sz="1800" i="1" u="sng" dirty="0"/>
              <a:t>Suppression des colonnes inutiles : </a:t>
            </a:r>
            <a:r>
              <a:rPr lang="fr-FR" sz="1600" dirty="0"/>
              <a:t>'post_password', 'post_content', 'post_content_filtered','post_excerpt','tax_class','tax_class',</a:t>
            </a:r>
          </a:p>
          <a:p>
            <a:pPr marL="0" indent="0">
              <a:buNone/>
            </a:pPr>
            <a:r>
              <a:rPr lang="fr-FR" sz="1600" dirty="0"/>
              <a:t>     'post_mime_type'</a:t>
            </a:r>
          </a:p>
          <a:p>
            <a:pPr marL="0" indent="0">
              <a:buNone/>
            </a:pPr>
            <a:r>
              <a:rPr lang="fr-FR" sz="1800" i="1" u="sng" dirty="0"/>
              <a:t>Vérification des codes articles [SKU]</a:t>
            </a:r>
            <a:r>
              <a:rPr lang="fr-FR" sz="1800" dirty="0"/>
              <a:t> :</a:t>
            </a:r>
          </a:p>
          <a:p>
            <a:pPr marL="0" indent="0">
              <a:buNone/>
            </a:pPr>
            <a:r>
              <a:rPr lang="fr-FR" sz="1800" dirty="0"/>
              <a:t>On constate :</a:t>
            </a:r>
          </a:p>
          <a:p>
            <a:pPr>
              <a:buFont typeface="Wingdings" panose="05000000000000000000" pitchFamily="2" charset="2"/>
              <a:buChar char="§"/>
            </a:pPr>
            <a:r>
              <a:rPr lang="fr-FR" sz="1800" dirty="0"/>
              <a:t> l’existence des codes articles qui ne respectant pas la règle de codification (Ex : 'bon-cadeau-25-euros’)</a:t>
            </a:r>
          </a:p>
          <a:p>
            <a:pPr>
              <a:buFont typeface="Wingdings" panose="05000000000000000000" pitchFamily="2" charset="2"/>
              <a:buChar char="§"/>
            </a:pPr>
            <a:r>
              <a:rPr lang="fr-FR" sz="1800" dirty="0"/>
              <a:t>L’existence des lignes sans code articles (Le traitement effectues est de garder les articles avec un total sales non nuls et supprimer le reste)</a:t>
            </a:r>
          </a:p>
          <a:p>
            <a:pPr>
              <a:buFont typeface="Wingdings" panose="05000000000000000000" pitchFamily="2" charset="2"/>
              <a:buChar char="§"/>
            </a:pPr>
            <a:r>
              <a:rPr lang="fr-FR" sz="1800" dirty="0"/>
              <a:t>L’existence d’un doublans pour le ‘post title’ : ‘Mas Laval IGP Pays d'Hérault Les Pampres Blancs 2018’, donc il faut garder que les articles avec un ‘post type’ : "post_type" == "product"</a:t>
            </a:r>
          </a:p>
          <a:p>
            <a:pPr marL="0" indent="0">
              <a:buNone/>
            </a:pPr>
            <a:endParaRPr lang="fr-FR" sz="1800" dirty="0"/>
          </a:p>
        </p:txBody>
      </p:sp>
      <p:sp>
        <p:nvSpPr>
          <p:cNvPr id="7" name="ZoneTexte 6">
            <a:extLst>
              <a:ext uri="{FF2B5EF4-FFF2-40B4-BE49-F238E27FC236}">
                <a16:creationId xmlns:a16="http://schemas.microsoft.com/office/drawing/2014/main" id="{E12744D9-61A6-E114-90E4-D2B5EC62F59F}"/>
              </a:ext>
            </a:extLst>
          </p:cNvPr>
          <p:cNvSpPr txBox="1"/>
          <p:nvPr/>
        </p:nvSpPr>
        <p:spPr>
          <a:xfrm>
            <a:off x="1496085" y="784055"/>
            <a:ext cx="6106562" cy="369332"/>
          </a:xfrm>
          <a:prstGeom prst="rect">
            <a:avLst/>
          </a:prstGeom>
          <a:noFill/>
        </p:spPr>
        <p:txBody>
          <a:bodyPr wrap="square">
            <a:spAutoFit/>
          </a:bodyPr>
          <a:lstStyle/>
          <a:p>
            <a:r>
              <a:rPr lang="fr-FR" sz="1800" b="1" dirty="0">
                <a:solidFill>
                  <a:schemeClr val="tx2"/>
                </a:solidFill>
              </a:rPr>
              <a:t>2.  Analyse exploratoire du fichier web.xlsx</a:t>
            </a:r>
            <a:endParaRPr lang="fr-FR" dirty="0"/>
          </a:p>
        </p:txBody>
      </p:sp>
      <p:sp>
        <p:nvSpPr>
          <p:cNvPr id="2" name="Rectangle 1">
            <a:extLst>
              <a:ext uri="{FF2B5EF4-FFF2-40B4-BE49-F238E27FC236}">
                <a16:creationId xmlns:a16="http://schemas.microsoft.com/office/drawing/2014/main" id="{0469BBF5-5E29-6343-0222-8ACF6DC0870C}"/>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5283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E9E65138-A8DB-99E7-D793-3ED28301B15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4EAE890-9ED2-ED68-B12D-2ABD33087495}"/>
              </a:ext>
            </a:extLst>
          </p:cNvPr>
          <p:cNvSpPr>
            <a:spLocks noGrp="1"/>
          </p:cNvSpPr>
          <p:nvPr>
            <p:ph idx="1"/>
          </p:nvPr>
        </p:nvSpPr>
        <p:spPr>
          <a:xfrm>
            <a:off x="1049576" y="784055"/>
            <a:ext cx="10525752" cy="5779707"/>
          </a:xfrm>
        </p:spPr>
        <p:txBody>
          <a:bodyPr>
            <a:normAutofit/>
          </a:bodyPr>
          <a:lstStyle/>
          <a:p>
            <a:pPr marL="0" indent="0">
              <a:buNone/>
            </a:pPr>
            <a:r>
              <a:rPr lang="fr-FR" sz="1800" dirty="0"/>
              <a:t>	</a:t>
            </a:r>
            <a:endParaRPr lang="fr-FR" sz="1800" i="1" u="sng" dirty="0"/>
          </a:p>
          <a:p>
            <a:pPr marL="0" indent="0">
              <a:buNone/>
            </a:pPr>
            <a:r>
              <a:rPr lang="fr-FR" sz="1800" i="1" u="sng" dirty="0"/>
              <a:t>Dimensions du dataset </a:t>
            </a:r>
            <a:r>
              <a:rPr lang="fr-FR" sz="1600" dirty="0"/>
              <a:t>: (825 , 2), nombre d'observations : 825 , nombre de caractéristiques : 2 </a:t>
            </a:r>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endParaRPr lang="fr-FR" sz="1800" i="1" u="sng" dirty="0"/>
          </a:p>
          <a:p>
            <a:pPr marL="0" indent="0">
              <a:buNone/>
            </a:pPr>
            <a:r>
              <a:rPr lang="fr-FR" sz="1800" i="1" u="sng" dirty="0"/>
              <a:t>Vérification des codes articles [SKU]</a:t>
            </a:r>
            <a:r>
              <a:rPr lang="fr-FR" sz="1800" dirty="0"/>
              <a:t> :</a:t>
            </a:r>
          </a:p>
          <a:p>
            <a:pPr marL="0" indent="0">
              <a:buNone/>
            </a:pPr>
            <a:r>
              <a:rPr lang="fr-FR" sz="1600" dirty="0"/>
              <a:t>Nombre d'articles dans 'id_web' sans correspondance : 0 </a:t>
            </a:r>
          </a:p>
          <a:p>
            <a:pPr marL="0" indent="0">
              <a:buNone/>
            </a:pPr>
            <a:r>
              <a:rPr lang="fr-FR" sz="1600" dirty="0"/>
              <a:t>Nombre d'articles dans 'product_id' sans correspondance : 91 </a:t>
            </a:r>
          </a:p>
          <a:p>
            <a:pPr>
              <a:buFont typeface="Symbol" panose="05050102010706020507" pitchFamily="18" charset="2"/>
              <a:buChar char="Þ"/>
            </a:pPr>
            <a:r>
              <a:rPr lang="fr-FR" sz="1800" dirty="0"/>
              <a:t> Car id_web a seulement 734 valeurs sur 825 lignes. Donc 91 articles n’ont pas de correspondance (id_web manquant). Donc il faut supprimer ces articles sans correspondance.</a:t>
            </a:r>
          </a:p>
          <a:p>
            <a:pPr marL="0" indent="0">
              <a:buNone/>
            </a:pPr>
            <a:endParaRPr lang="fr-FR" sz="1800" dirty="0"/>
          </a:p>
        </p:txBody>
      </p:sp>
      <p:sp>
        <p:nvSpPr>
          <p:cNvPr id="7" name="ZoneTexte 6">
            <a:extLst>
              <a:ext uri="{FF2B5EF4-FFF2-40B4-BE49-F238E27FC236}">
                <a16:creationId xmlns:a16="http://schemas.microsoft.com/office/drawing/2014/main" id="{B54D1EBA-72E0-15D9-1021-4B0E8AE7B7E0}"/>
              </a:ext>
            </a:extLst>
          </p:cNvPr>
          <p:cNvSpPr txBox="1"/>
          <p:nvPr/>
        </p:nvSpPr>
        <p:spPr>
          <a:xfrm>
            <a:off x="1496085" y="784055"/>
            <a:ext cx="6106562" cy="369332"/>
          </a:xfrm>
          <a:prstGeom prst="rect">
            <a:avLst/>
          </a:prstGeom>
          <a:noFill/>
        </p:spPr>
        <p:txBody>
          <a:bodyPr wrap="square">
            <a:spAutoFit/>
          </a:bodyPr>
          <a:lstStyle/>
          <a:p>
            <a:r>
              <a:rPr lang="fr-FR" sz="1800" b="1" dirty="0">
                <a:solidFill>
                  <a:schemeClr val="tx2"/>
                </a:solidFill>
              </a:rPr>
              <a:t>3.  Analyse exploratoire du fichier liaison.xlsx</a:t>
            </a:r>
            <a:endParaRPr lang="fr-FR" dirty="0"/>
          </a:p>
        </p:txBody>
      </p:sp>
      <p:sp>
        <p:nvSpPr>
          <p:cNvPr id="2" name="Rectangle 1">
            <a:extLst>
              <a:ext uri="{FF2B5EF4-FFF2-40B4-BE49-F238E27FC236}">
                <a16:creationId xmlns:a16="http://schemas.microsoft.com/office/drawing/2014/main" id="{76ABD54A-03A4-A751-8508-23A363708281}"/>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430D2762-7187-CD5C-CF18-6110DB2650D5}"/>
              </a:ext>
            </a:extLst>
          </p:cNvPr>
          <p:cNvPicPr>
            <a:picLocks noChangeAspect="1"/>
          </p:cNvPicPr>
          <p:nvPr/>
        </p:nvPicPr>
        <p:blipFill>
          <a:blip r:embed="rId2"/>
          <a:stretch>
            <a:fillRect/>
          </a:stretch>
        </p:blipFill>
        <p:spPr>
          <a:xfrm>
            <a:off x="5014220" y="1779654"/>
            <a:ext cx="1819529" cy="1524213"/>
          </a:xfrm>
          <a:prstGeom prst="rect">
            <a:avLst/>
          </a:prstGeom>
        </p:spPr>
      </p:pic>
      <p:sp>
        <p:nvSpPr>
          <p:cNvPr id="6" name="Rectangle 1">
            <a:extLst>
              <a:ext uri="{FF2B5EF4-FFF2-40B4-BE49-F238E27FC236}">
                <a16:creationId xmlns:a16="http://schemas.microsoft.com/office/drawing/2014/main" id="{63545190-DF59-DD8A-40D5-7A2A9882735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75A73C72-9B0C-199C-7122-23F958D2960C}"/>
              </a:ext>
            </a:extLst>
          </p:cNvPr>
          <p:cNvSpPr>
            <a:spLocks noChangeArrowheads="1"/>
          </p:cNvSpPr>
          <p:nvPr/>
        </p:nvSpPr>
        <p:spPr bwMode="auto">
          <a:xfrm>
            <a:off x="0" y="13156"/>
            <a:ext cx="6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20484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5D3BD322-2FF5-FBF2-16FA-FD5DF8647BB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46D2BA-B88F-45D1-3207-E900F0C50D74}"/>
              </a:ext>
            </a:extLst>
          </p:cNvPr>
          <p:cNvSpPr>
            <a:spLocks noGrp="1"/>
          </p:cNvSpPr>
          <p:nvPr>
            <p:ph type="title"/>
          </p:nvPr>
        </p:nvSpPr>
        <p:spPr>
          <a:xfrm>
            <a:off x="1375501" y="166989"/>
            <a:ext cx="10375896" cy="1235043"/>
          </a:xfrm>
        </p:spPr>
        <p:txBody>
          <a:bodyPr>
            <a:normAutofit/>
          </a:bodyPr>
          <a:lstStyle/>
          <a:p>
            <a:r>
              <a:rPr lang="fr-FR" sz="2800" dirty="0">
                <a:solidFill>
                  <a:srgbClr val="C00000"/>
                </a:solidFill>
              </a:rPr>
              <a:t>Fusion des fichiers</a:t>
            </a:r>
            <a:endParaRPr lang="fr-FR" dirty="0">
              <a:solidFill>
                <a:srgbClr val="C00000"/>
              </a:solidFill>
            </a:endParaRPr>
          </a:p>
        </p:txBody>
      </p:sp>
      <p:sp>
        <p:nvSpPr>
          <p:cNvPr id="3" name="Espace réservé du contenu 2">
            <a:extLst>
              <a:ext uri="{FF2B5EF4-FFF2-40B4-BE49-F238E27FC236}">
                <a16:creationId xmlns:a16="http://schemas.microsoft.com/office/drawing/2014/main" id="{5E82CE15-CD31-891B-21C5-79988105C9A9}"/>
              </a:ext>
            </a:extLst>
          </p:cNvPr>
          <p:cNvSpPr>
            <a:spLocks noGrp="1"/>
          </p:cNvSpPr>
          <p:nvPr>
            <p:ph idx="1"/>
          </p:nvPr>
        </p:nvSpPr>
        <p:spPr>
          <a:xfrm>
            <a:off x="1270912" y="1599916"/>
            <a:ext cx="5908486" cy="5538742"/>
          </a:xfrm>
        </p:spPr>
        <p:txBody>
          <a:bodyPr>
            <a:normAutofit/>
          </a:bodyPr>
          <a:lstStyle/>
          <a:p>
            <a:pPr marL="457200" indent="-457200">
              <a:buFont typeface="+mj-lt"/>
              <a:buAutoNum type="arabicPeriod"/>
            </a:pPr>
            <a:r>
              <a:rPr lang="fr-FR" sz="1800" b="1" dirty="0">
                <a:solidFill>
                  <a:schemeClr val="tx2"/>
                </a:solidFill>
              </a:rPr>
              <a:t>Fusion des fichiers df_erp et df_liaison :</a:t>
            </a:r>
          </a:p>
          <a:p>
            <a:pPr marL="0" indent="0">
              <a:buNone/>
            </a:pPr>
            <a:r>
              <a:rPr lang="fr-FR" sz="1600" dirty="0"/>
              <a:t>Nombre d'articles dans 'id_web' sans correspondance : 0 </a:t>
            </a:r>
          </a:p>
          <a:p>
            <a:pPr marL="0" indent="0">
              <a:buNone/>
            </a:pPr>
            <a:r>
              <a:rPr lang="fr-FR" sz="1600" dirty="0"/>
              <a:t>Nombre d'articles dans 'product_id' sans correspondance : 0 </a:t>
            </a:r>
          </a:p>
          <a:p>
            <a:pPr marL="0" indent="0">
              <a:buNone/>
            </a:pPr>
            <a:r>
              <a:rPr lang="fr-FR" sz="1800" b="1" dirty="0">
                <a:solidFill>
                  <a:schemeClr val="tx2"/>
                </a:solidFill>
              </a:rPr>
              <a:t>2.    Fusion des fichiers df_merge et df_web :</a:t>
            </a:r>
          </a:p>
          <a:p>
            <a:pPr marL="0" indent="0">
              <a:buNone/>
            </a:pPr>
            <a:r>
              <a:rPr lang="fr-FR" sz="1600" dirty="0"/>
              <a:t>Nous avons trouvé 2 lignes sans correspondance : </a:t>
            </a:r>
          </a:p>
          <a:p>
            <a:pPr marL="0" indent="0">
              <a:buNone/>
            </a:pPr>
            <a:r>
              <a:rPr lang="fr-FR" sz="1600" dirty="0"/>
              <a:t>pas de web_id, pas de product_id, total_sales négatifs =&gt; supprimer ces lignes</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p:txBody>
      </p:sp>
      <p:pic>
        <p:nvPicPr>
          <p:cNvPr id="5" name="Image 4">
            <a:extLst>
              <a:ext uri="{FF2B5EF4-FFF2-40B4-BE49-F238E27FC236}">
                <a16:creationId xmlns:a16="http://schemas.microsoft.com/office/drawing/2014/main" id="{F859E672-6E0D-0D63-0EB8-4AF767CA25D9}"/>
              </a:ext>
            </a:extLst>
          </p:cNvPr>
          <p:cNvPicPr>
            <a:picLocks noChangeAspect="1"/>
          </p:cNvPicPr>
          <p:nvPr/>
        </p:nvPicPr>
        <p:blipFill>
          <a:blip r:embed="rId2"/>
          <a:stretch>
            <a:fillRect/>
          </a:stretch>
        </p:blipFill>
        <p:spPr>
          <a:xfrm>
            <a:off x="7425584" y="1519727"/>
            <a:ext cx="3734321" cy="3581900"/>
          </a:xfrm>
          <a:prstGeom prst="rect">
            <a:avLst/>
          </a:prstGeom>
        </p:spPr>
      </p:pic>
      <p:sp>
        <p:nvSpPr>
          <p:cNvPr id="7" name="Rectangle 1">
            <a:extLst>
              <a:ext uri="{FF2B5EF4-FFF2-40B4-BE49-F238E27FC236}">
                <a16:creationId xmlns:a16="http://schemas.microsoft.com/office/drawing/2014/main" id="{82C51EBC-633A-0367-34A4-BD39C88693F8}"/>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5450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8FC1AFCC-A66A-5CF9-379E-E0DA0FA4AF9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48BA04E-3432-3C90-25F5-27B0935A0668}"/>
              </a:ext>
            </a:extLst>
          </p:cNvPr>
          <p:cNvSpPr>
            <a:spLocks noGrp="1"/>
          </p:cNvSpPr>
          <p:nvPr>
            <p:ph type="title"/>
          </p:nvPr>
        </p:nvSpPr>
        <p:spPr>
          <a:xfrm>
            <a:off x="1140111" y="84363"/>
            <a:ext cx="10375896" cy="1235043"/>
          </a:xfrm>
        </p:spPr>
        <p:txBody>
          <a:bodyPr>
            <a:normAutofit/>
          </a:bodyPr>
          <a:lstStyle/>
          <a:p>
            <a:r>
              <a:rPr lang="fr-FR" sz="2800" dirty="0">
                <a:solidFill>
                  <a:srgbClr val="C00000"/>
                </a:solidFill>
              </a:rPr>
              <a:t>Analyse exploratoire	</a:t>
            </a:r>
          </a:p>
        </p:txBody>
      </p:sp>
      <p:sp>
        <p:nvSpPr>
          <p:cNvPr id="3" name="Espace réservé du contenu 2">
            <a:extLst>
              <a:ext uri="{FF2B5EF4-FFF2-40B4-BE49-F238E27FC236}">
                <a16:creationId xmlns:a16="http://schemas.microsoft.com/office/drawing/2014/main" id="{C316E884-E8B5-81D5-A69D-1A89841DABC8}"/>
              </a:ext>
            </a:extLst>
          </p:cNvPr>
          <p:cNvSpPr>
            <a:spLocks noGrp="1"/>
          </p:cNvSpPr>
          <p:nvPr>
            <p:ph idx="1"/>
          </p:nvPr>
        </p:nvSpPr>
        <p:spPr>
          <a:xfrm>
            <a:off x="990255" y="1056708"/>
            <a:ext cx="5012193" cy="4112821"/>
          </a:xfrm>
        </p:spPr>
        <p:txBody>
          <a:bodyPr>
            <a:normAutofit/>
          </a:bodyPr>
          <a:lstStyle/>
          <a:p>
            <a:pPr marL="457200" indent="-457200">
              <a:buFont typeface="+mj-lt"/>
              <a:buAutoNum type="arabicPeriod"/>
            </a:pPr>
            <a:r>
              <a:rPr lang="fr-FR" sz="1800" b="1" dirty="0">
                <a:solidFill>
                  <a:schemeClr val="tx2"/>
                </a:solidFill>
              </a:rPr>
              <a:t>Analyse univarié des prix :</a:t>
            </a:r>
          </a:p>
          <a:p>
            <a:pPr marL="0" indent="0">
              <a:buNone/>
            </a:pPr>
            <a:r>
              <a:rPr lang="fr-FR" sz="1600" i="1" u="sng" dirty="0"/>
              <a:t>a) Exploration par la visualisation de données :</a:t>
            </a:r>
          </a:p>
          <a:p>
            <a:pPr marL="0" indent="0">
              <a:buNone/>
            </a:pPr>
            <a:endParaRPr lang="fr-FR" sz="1600" dirty="0"/>
          </a:p>
          <a:p>
            <a:pPr marL="0" indent="0">
              <a:buNone/>
            </a:pPr>
            <a:endParaRPr lang="fr-FR" sz="1600" dirty="0"/>
          </a:p>
          <a:p>
            <a:pPr marL="0" indent="0">
              <a:buNone/>
            </a:pPr>
            <a:endParaRPr lang="fr-FR" sz="1800" dirty="0"/>
          </a:p>
          <a:p>
            <a:pPr marL="0" indent="0">
              <a:buNone/>
            </a:pPr>
            <a:endParaRPr lang="fr-FR" sz="1800" dirty="0"/>
          </a:p>
        </p:txBody>
      </p:sp>
      <p:sp>
        <p:nvSpPr>
          <p:cNvPr id="7" name="Rectangle 1">
            <a:extLst>
              <a:ext uri="{FF2B5EF4-FFF2-40B4-BE49-F238E27FC236}">
                <a16:creationId xmlns:a16="http://schemas.microsoft.com/office/drawing/2014/main" id="{1C843A00-AB32-C1AF-5981-38B9C6DF6D93}"/>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6" name="Image 5">
            <a:extLst>
              <a:ext uri="{FF2B5EF4-FFF2-40B4-BE49-F238E27FC236}">
                <a16:creationId xmlns:a16="http://schemas.microsoft.com/office/drawing/2014/main" id="{C6721F8C-76EC-17BE-76D3-A3150A7C65C1}"/>
              </a:ext>
            </a:extLst>
          </p:cNvPr>
          <p:cNvPicPr>
            <a:picLocks noChangeAspect="1"/>
          </p:cNvPicPr>
          <p:nvPr/>
        </p:nvPicPr>
        <p:blipFill>
          <a:blip r:embed="rId2"/>
          <a:stretch>
            <a:fillRect/>
          </a:stretch>
        </p:blipFill>
        <p:spPr>
          <a:xfrm>
            <a:off x="618627" y="1970352"/>
            <a:ext cx="5202750" cy="2497533"/>
          </a:xfrm>
          <a:prstGeom prst="rect">
            <a:avLst/>
          </a:prstGeom>
        </p:spPr>
      </p:pic>
      <p:sp>
        <p:nvSpPr>
          <p:cNvPr id="8" name="Espace réservé du contenu 2">
            <a:extLst>
              <a:ext uri="{FF2B5EF4-FFF2-40B4-BE49-F238E27FC236}">
                <a16:creationId xmlns:a16="http://schemas.microsoft.com/office/drawing/2014/main" id="{99C264AE-AFE1-EBFB-A75A-98182085778A}"/>
              </a:ext>
            </a:extLst>
          </p:cNvPr>
          <p:cNvSpPr txBox="1">
            <a:spLocks/>
          </p:cNvSpPr>
          <p:nvPr/>
        </p:nvSpPr>
        <p:spPr>
          <a:xfrm>
            <a:off x="6096000" y="875640"/>
            <a:ext cx="5607113" cy="151447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fr-FR" sz="1600" i="1" u="sng" dirty="0"/>
              <a:t>b) Exploration par l’utilisation de méthodes statistique (Z-index)</a:t>
            </a:r>
          </a:p>
          <a:p>
            <a:pPr marL="0" indent="0">
              <a:buFont typeface="Arial" panose="020B0604020202020204" pitchFamily="34" charset="0"/>
              <a:buNone/>
            </a:pPr>
            <a:endParaRPr lang="fr-FR" sz="1600" dirty="0"/>
          </a:p>
          <a:p>
            <a:pPr marL="0" indent="0">
              <a:buFont typeface="Arial" panose="020B0604020202020204" pitchFamily="34" charset="0"/>
              <a:buNone/>
            </a:pPr>
            <a:endParaRPr lang="fr-FR" sz="1600" dirty="0"/>
          </a:p>
          <a:p>
            <a:pPr marL="0" indent="0">
              <a:buFont typeface="Arial" panose="020B0604020202020204" pitchFamily="34" charset="0"/>
              <a:buNone/>
            </a:pPr>
            <a:endParaRPr lang="fr-FR" sz="1800" dirty="0"/>
          </a:p>
          <a:p>
            <a:pPr marL="0" indent="0">
              <a:buFont typeface="Arial" panose="020B0604020202020204" pitchFamily="34" charset="0"/>
              <a:buNone/>
            </a:pPr>
            <a:endParaRPr lang="fr-FR" sz="1800" dirty="0"/>
          </a:p>
        </p:txBody>
      </p:sp>
      <p:pic>
        <p:nvPicPr>
          <p:cNvPr id="9" name="Image 8">
            <a:extLst>
              <a:ext uri="{FF2B5EF4-FFF2-40B4-BE49-F238E27FC236}">
                <a16:creationId xmlns:a16="http://schemas.microsoft.com/office/drawing/2014/main" id="{8A8D6688-6EB8-4CA1-68ED-A4FCF408E45D}"/>
              </a:ext>
            </a:extLst>
          </p:cNvPr>
          <p:cNvPicPr>
            <a:picLocks noChangeAspect="1"/>
          </p:cNvPicPr>
          <p:nvPr/>
        </p:nvPicPr>
        <p:blipFill>
          <a:blip r:embed="rId3"/>
          <a:stretch>
            <a:fillRect/>
          </a:stretch>
        </p:blipFill>
        <p:spPr>
          <a:xfrm>
            <a:off x="6095999" y="1319406"/>
            <a:ext cx="5655207" cy="2263791"/>
          </a:xfrm>
          <a:prstGeom prst="rect">
            <a:avLst/>
          </a:prstGeom>
        </p:spPr>
      </p:pic>
      <p:sp>
        <p:nvSpPr>
          <p:cNvPr id="10" name="Espace réservé du contenu 2">
            <a:extLst>
              <a:ext uri="{FF2B5EF4-FFF2-40B4-BE49-F238E27FC236}">
                <a16:creationId xmlns:a16="http://schemas.microsoft.com/office/drawing/2014/main" id="{83676102-1BEE-6126-F734-D584E9DB13A9}"/>
              </a:ext>
            </a:extLst>
          </p:cNvPr>
          <p:cNvSpPr txBox="1">
            <a:spLocks/>
          </p:cNvSpPr>
          <p:nvPr/>
        </p:nvSpPr>
        <p:spPr>
          <a:xfrm>
            <a:off x="6002447" y="3710647"/>
            <a:ext cx="6337739" cy="84489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fr-FR" sz="1600" i="1" u="sng" dirty="0"/>
              <a:t>c) Exploration par l’utilisation de méthodes statistique (l'interval interquartile)</a:t>
            </a:r>
          </a:p>
          <a:p>
            <a:pPr>
              <a:buFont typeface="Symbol" panose="05050102010706020507" pitchFamily="18" charset="2"/>
              <a:buChar char="Þ"/>
            </a:pPr>
            <a:r>
              <a:rPr lang="fr-FR" sz="1600" dirty="0"/>
              <a:t> Les 'outliers' se situent au-dessus de : 84.09 </a:t>
            </a:r>
          </a:p>
          <a:p>
            <a:pPr marL="0" indent="0">
              <a:buFont typeface="Arial" panose="020B0604020202020204" pitchFamily="34" charset="0"/>
              <a:buNone/>
            </a:pPr>
            <a:endParaRPr lang="fr-FR" sz="1600" dirty="0"/>
          </a:p>
          <a:p>
            <a:pPr marL="0" indent="0">
              <a:buFont typeface="Arial" panose="020B0604020202020204" pitchFamily="34" charset="0"/>
              <a:buNone/>
            </a:pPr>
            <a:endParaRPr lang="fr-FR" sz="1800" dirty="0"/>
          </a:p>
          <a:p>
            <a:pPr marL="0" indent="0">
              <a:buFont typeface="Arial" panose="020B0604020202020204" pitchFamily="34" charset="0"/>
              <a:buNone/>
            </a:pPr>
            <a:endParaRPr lang="fr-FR" sz="1800" dirty="0"/>
          </a:p>
        </p:txBody>
      </p:sp>
      <p:sp>
        <p:nvSpPr>
          <p:cNvPr id="11" name="Rectangle 1">
            <a:extLst>
              <a:ext uri="{FF2B5EF4-FFF2-40B4-BE49-F238E27FC236}">
                <a16:creationId xmlns:a16="http://schemas.microsoft.com/office/drawing/2014/main" id="{A4601724-FE64-3047-93C4-81E484785F08}"/>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44" name="Image 43">
            <a:extLst>
              <a:ext uri="{FF2B5EF4-FFF2-40B4-BE49-F238E27FC236}">
                <a16:creationId xmlns:a16="http://schemas.microsoft.com/office/drawing/2014/main" id="{9C7DACB6-1964-836C-D96A-50AD3B1CDF20}"/>
              </a:ext>
            </a:extLst>
          </p:cNvPr>
          <p:cNvPicPr>
            <a:picLocks noChangeAspect="1"/>
          </p:cNvPicPr>
          <p:nvPr/>
        </p:nvPicPr>
        <p:blipFill>
          <a:blip r:embed="rId4"/>
          <a:stretch>
            <a:fillRect/>
          </a:stretch>
        </p:blipFill>
        <p:spPr>
          <a:xfrm>
            <a:off x="6914790" y="4575069"/>
            <a:ext cx="4601217" cy="657317"/>
          </a:xfrm>
          <a:prstGeom prst="rect">
            <a:avLst/>
          </a:prstGeom>
        </p:spPr>
      </p:pic>
      <p:sp>
        <p:nvSpPr>
          <p:cNvPr id="75" name="Rectangle : coins arrondis 74">
            <a:extLst>
              <a:ext uri="{FF2B5EF4-FFF2-40B4-BE49-F238E27FC236}">
                <a16:creationId xmlns:a16="http://schemas.microsoft.com/office/drawing/2014/main" id="{67C26B56-FC7A-1B0A-4CC1-BF7FBD2B402F}"/>
              </a:ext>
            </a:extLst>
          </p:cNvPr>
          <p:cNvSpPr/>
          <p:nvPr/>
        </p:nvSpPr>
        <p:spPr>
          <a:xfrm>
            <a:off x="1208638" y="5239977"/>
            <a:ext cx="5395866" cy="153366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fr-FR" dirty="0"/>
          </a:p>
          <a:p>
            <a:r>
              <a:rPr lang="fr-FR" dirty="0"/>
              <a:t>Ces outliers sont-ils justifiés ? </a:t>
            </a:r>
          </a:p>
          <a:p>
            <a:r>
              <a:rPr lang="fr-FR" dirty="0"/>
              <a:t>peut-être une erreur de saisie ou un vin très spécial (on est sur des vins prestigieux, des wiskies, huiles...  avec des prix qui peuvent monter à plus de 200€ pour des cognacs, vins ou autres )</a:t>
            </a:r>
          </a:p>
          <a:p>
            <a:pPr algn="ctr"/>
            <a:endParaRPr lang="fr-FR" dirty="0"/>
          </a:p>
        </p:txBody>
      </p:sp>
    </p:spTree>
    <p:extLst>
      <p:ext uri="{BB962C8B-B14F-4D97-AF65-F5344CB8AC3E}">
        <p14:creationId xmlns:p14="http://schemas.microsoft.com/office/powerpoint/2010/main" val="282713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8257A93-17AD-4D1A-3A0B-C3767E9E0A70}"/>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6FD66D8-534C-CF0C-F068-1045231C1F74}"/>
              </a:ext>
            </a:extLst>
          </p:cNvPr>
          <p:cNvSpPr>
            <a:spLocks noGrp="1"/>
          </p:cNvSpPr>
          <p:nvPr>
            <p:ph idx="1"/>
          </p:nvPr>
        </p:nvSpPr>
        <p:spPr>
          <a:xfrm>
            <a:off x="1312126" y="521007"/>
            <a:ext cx="10525752" cy="6232877"/>
          </a:xfrm>
        </p:spPr>
        <p:txBody>
          <a:bodyPr>
            <a:normAutofit/>
          </a:bodyPr>
          <a:lstStyle/>
          <a:p>
            <a:pPr marL="0" indent="0">
              <a:buNone/>
            </a:pPr>
            <a:r>
              <a:rPr lang="fr-FR" sz="1800" b="1" dirty="0">
                <a:solidFill>
                  <a:schemeClr val="tx2"/>
                </a:solidFill>
              </a:rPr>
              <a:t>2. Analyse des ventes en CA : </a:t>
            </a:r>
          </a:p>
          <a:p>
            <a:pPr>
              <a:buFont typeface="Wingdings" panose="05000000000000000000" pitchFamily="2" charset="2"/>
              <a:buChar char="ü"/>
            </a:pPr>
            <a:r>
              <a:rPr lang="fr-FR" sz="1600" dirty="0"/>
              <a:t>Chiffre d'affaire du site web : 143680.1 </a:t>
            </a:r>
          </a:p>
          <a:p>
            <a:pPr marL="0" indent="0">
              <a:buNone/>
            </a:pPr>
            <a:r>
              <a:rPr lang="fr-FR" sz="1600" dirty="0"/>
              <a:t>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a:buFont typeface="Wingdings" panose="05000000000000000000" pitchFamily="2" charset="2"/>
              <a:buChar char="ü"/>
            </a:pPr>
            <a:r>
              <a:rPr lang="fr-FR" sz="1800" dirty="0"/>
              <a:t>Le </a:t>
            </a:r>
            <a:r>
              <a:rPr lang="fr-FR" sz="1600" dirty="0"/>
              <a:t>nombre d'articles représentant 80% du CA : 434</a:t>
            </a:r>
          </a:p>
          <a:p>
            <a:pPr>
              <a:buFont typeface="Wingdings" panose="05000000000000000000" pitchFamily="2" charset="2"/>
              <a:buChar char="ü"/>
            </a:pPr>
            <a:r>
              <a:rPr lang="fr-FR" sz="1600" dirty="0"/>
              <a:t>la proportion que représente ce groupe d'articles dans le catalogue entier du site web : 60.78 % </a:t>
            </a:r>
          </a:p>
          <a:p>
            <a:pPr>
              <a:buFont typeface="Wingdings" panose="05000000000000000000" pitchFamily="2" charset="2"/>
              <a:buChar char="ü"/>
            </a:pPr>
            <a:endParaRPr lang="fr-FR" sz="16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2000" dirty="0"/>
          </a:p>
          <a:p>
            <a:pPr marL="0" indent="0">
              <a:buNone/>
            </a:pPr>
            <a:endParaRPr lang="fr-FR" sz="2000" dirty="0"/>
          </a:p>
        </p:txBody>
      </p:sp>
      <p:sp>
        <p:nvSpPr>
          <p:cNvPr id="8" name="Rectangle 1">
            <a:extLst>
              <a:ext uri="{FF2B5EF4-FFF2-40B4-BE49-F238E27FC236}">
                <a16:creationId xmlns:a16="http://schemas.microsoft.com/office/drawing/2014/main" id="{23A5E85B-E3B9-E13D-1209-A45D6C81AB32}"/>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a:extLst>
              <a:ext uri="{FF2B5EF4-FFF2-40B4-BE49-F238E27FC236}">
                <a16:creationId xmlns:a16="http://schemas.microsoft.com/office/drawing/2014/main" id="{21C28309-37D1-0CCE-A5A2-59FBF5B7A176}"/>
              </a:ext>
            </a:extLst>
          </p:cNvPr>
          <p:cNvPicPr>
            <a:picLocks noChangeAspect="1"/>
          </p:cNvPicPr>
          <p:nvPr/>
        </p:nvPicPr>
        <p:blipFill>
          <a:blip r:embed="rId2"/>
          <a:stretch>
            <a:fillRect/>
          </a:stretch>
        </p:blipFill>
        <p:spPr>
          <a:xfrm>
            <a:off x="2799116" y="1668453"/>
            <a:ext cx="6593768" cy="3105407"/>
          </a:xfrm>
          <a:prstGeom prst="rect">
            <a:avLst/>
          </a:prstGeom>
        </p:spPr>
      </p:pic>
      <p:sp>
        <p:nvSpPr>
          <p:cNvPr id="11" name="Rectangle 2">
            <a:extLst>
              <a:ext uri="{FF2B5EF4-FFF2-40B4-BE49-F238E27FC236}">
                <a16:creationId xmlns:a16="http://schemas.microsoft.com/office/drawing/2014/main" id="{32F098F1-7480-0BDA-0AF9-2968D98CC66E}"/>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8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2" name="Rectangle 3">
            <a:extLst>
              <a:ext uri="{FF2B5EF4-FFF2-40B4-BE49-F238E27FC236}">
                <a16:creationId xmlns:a16="http://schemas.microsoft.com/office/drawing/2014/main" id="{0A2D74B1-C11C-7E73-4B11-27D70DEEF781}"/>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96892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EF02B476-CCCA-E94C-6FA8-092133BEF42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1F10BFA-61D5-DEB9-7B4B-22EE46CA8DB7}"/>
              </a:ext>
            </a:extLst>
          </p:cNvPr>
          <p:cNvSpPr>
            <a:spLocks noGrp="1"/>
          </p:cNvSpPr>
          <p:nvPr>
            <p:ph idx="1"/>
          </p:nvPr>
        </p:nvSpPr>
        <p:spPr>
          <a:xfrm>
            <a:off x="1348341" y="499920"/>
            <a:ext cx="10525752" cy="6235857"/>
          </a:xfrm>
        </p:spPr>
        <p:txBody>
          <a:bodyPr>
            <a:normAutofit/>
          </a:bodyPr>
          <a:lstStyle/>
          <a:p>
            <a:pPr marL="0" indent="0">
              <a:buNone/>
            </a:pPr>
            <a:r>
              <a:rPr lang="fr-FR" sz="1800" b="1" dirty="0">
                <a:solidFill>
                  <a:schemeClr val="tx2"/>
                </a:solidFill>
              </a:rPr>
              <a:t>3.   Analyse des ventes en quantités vendues : </a:t>
            </a:r>
          </a:p>
          <a:p>
            <a:pPr>
              <a:buFont typeface="Wingdings" panose="05000000000000000000" pitchFamily="2" charset="2"/>
              <a:buChar char="ü"/>
            </a:pPr>
            <a:r>
              <a:rPr lang="fr-FR" sz="1600" dirty="0"/>
              <a:t>Affichage des 20 premiers articles en quantité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a:buFont typeface="Wingdings" panose="05000000000000000000" pitchFamily="2" charset="2"/>
              <a:buChar char="ü"/>
            </a:pPr>
            <a:r>
              <a:rPr lang="fr-FR" sz="1600" dirty="0"/>
              <a:t>Le nombre d'articles représentant 80% des ventes en quantité : 433 </a:t>
            </a:r>
          </a:p>
          <a:p>
            <a:pPr>
              <a:buFont typeface="Wingdings" panose="05000000000000000000" pitchFamily="2" charset="2"/>
              <a:buChar char="ü"/>
            </a:pPr>
            <a:r>
              <a:rPr lang="fr-FR" sz="1600" dirty="0"/>
              <a:t>La proportion que représentent ce groupe d'articles dans le catalogue entier du site web : 60.64 %</a:t>
            </a:r>
          </a:p>
          <a:p>
            <a:pPr>
              <a:buFont typeface="Wingdings" panose="05000000000000000000" pitchFamily="2" charset="2"/>
              <a:buChar char="ü"/>
            </a:pPr>
            <a:endParaRPr lang="fr-FR" sz="16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2000" dirty="0"/>
          </a:p>
          <a:p>
            <a:pPr marL="0" indent="0">
              <a:buNone/>
            </a:pPr>
            <a:endParaRPr lang="fr-FR" sz="2000" dirty="0"/>
          </a:p>
        </p:txBody>
      </p:sp>
      <p:pic>
        <p:nvPicPr>
          <p:cNvPr id="4" name="Image 3">
            <a:extLst>
              <a:ext uri="{FF2B5EF4-FFF2-40B4-BE49-F238E27FC236}">
                <a16:creationId xmlns:a16="http://schemas.microsoft.com/office/drawing/2014/main" id="{6F051E4F-B664-CA98-BC1D-FB9386E9BA45}"/>
              </a:ext>
            </a:extLst>
          </p:cNvPr>
          <p:cNvPicPr>
            <a:picLocks noChangeAspect="1"/>
          </p:cNvPicPr>
          <p:nvPr/>
        </p:nvPicPr>
        <p:blipFill>
          <a:blip r:embed="rId2"/>
          <a:stretch>
            <a:fillRect/>
          </a:stretch>
        </p:blipFill>
        <p:spPr>
          <a:xfrm>
            <a:off x="2797520" y="1437109"/>
            <a:ext cx="6969588" cy="3211691"/>
          </a:xfrm>
          <a:prstGeom prst="rect">
            <a:avLst/>
          </a:prstGeom>
        </p:spPr>
      </p:pic>
      <p:sp>
        <p:nvSpPr>
          <p:cNvPr id="6" name="Rectangle 1">
            <a:extLst>
              <a:ext uri="{FF2B5EF4-FFF2-40B4-BE49-F238E27FC236}">
                <a16:creationId xmlns:a16="http://schemas.microsoft.com/office/drawing/2014/main" id="{AAB8DCFD-A55D-BDD6-BDCB-BAEBC8EC2E83}"/>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DBABF340-CBA2-595A-CC65-7AC296EE9C8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9032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6E1333AF-92EC-B23B-A55D-6AF2DE10FD4B}"/>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4BF6DE1-2962-D605-C480-F9FC736567EE}"/>
              </a:ext>
            </a:extLst>
          </p:cNvPr>
          <p:cNvSpPr>
            <a:spLocks noGrp="1"/>
          </p:cNvSpPr>
          <p:nvPr>
            <p:ph idx="1"/>
          </p:nvPr>
        </p:nvSpPr>
        <p:spPr>
          <a:xfrm>
            <a:off x="1366448" y="367099"/>
            <a:ext cx="3784974" cy="6235857"/>
          </a:xfrm>
        </p:spPr>
        <p:txBody>
          <a:bodyPr>
            <a:normAutofit/>
          </a:bodyPr>
          <a:lstStyle/>
          <a:p>
            <a:pPr marL="0" indent="0">
              <a:buNone/>
            </a:pPr>
            <a:r>
              <a:rPr lang="fr-FR" sz="1800" b="1" dirty="0">
                <a:solidFill>
                  <a:schemeClr val="tx2"/>
                </a:solidFill>
              </a:rPr>
              <a:t>4.  Analyse des stocks :</a:t>
            </a:r>
          </a:p>
          <a:p>
            <a:pPr>
              <a:buFont typeface="Wingdings" panose="05000000000000000000" pitchFamily="2" charset="2"/>
              <a:buChar char="ü"/>
            </a:pPr>
            <a:r>
              <a:rPr lang="fr-FR" sz="1600" dirty="0"/>
              <a:t>Nombre de produits avec du stock : 669 </a:t>
            </a:r>
          </a:p>
          <a:p>
            <a:pPr marL="0" indent="0">
              <a:buNone/>
            </a:pPr>
            <a:endParaRPr lang="fr-FR" sz="1800" dirty="0"/>
          </a:p>
          <a:p>
            <a:pPr marL="0" indent="0">
              <a:buNone/>
            </a:pPr>
            <a:endParaRPr lang="fr-FR" sz="1800" dirty="0"/>
          </a:p>
          <a:p>
            <a:pPr marL="0" indent="0">
              <a:buNone/>
            </a:pPr>
            <a:endParaRPr lang="fr-FR" sz="1800" dirty="0"/>
          </a:p>
          <a:p>
            <a:pPr>
              <a:buFont typeface="Wingdings" panose="05000000000000000000" pitchFamily="2" charset="2"/>
              <a:buChar char="ü"/>
            </a:pPr>
            <a:r>
              <a:rPr lang="fr-FR" sz="1800" dirty="0"/>
              <a:t>La moyenne des mois de stock pour les 20 produits avec le plus de stock est de 250.51 mois </a:t>
            </a:r>
          </a:p>
          <a:p>
            <a:pPr>
              <a:buFont typeface="Wingdings" panose="05000000000000000000" pitchFamily="2" charset="2"/>
              <a:buChar char="ü"/>
            </a:pPr>
            <a:r>
              <a:rPr lang="fr-FR" sz="1800" dirty="0"/>
              <a:t>Valorisation des stocks en euros est de 277305.77 </a:t>
            </a:r>
          </a:p>
          <a:p>
            <a:pPr>
              <a:buFont typeface="Wingdings" panose="05000000000000000000" pitchFamily="2" charset="2"/>
              <a:buChar char="ü"/>
            </a:pPr>
            <a:r>
              <a:rPr lang="fr-FR" sz="1800" dirty="0"/>
              <a:t>Valorisation du nombre de produit en stock (la somme de la colonne stock quantity) est de 16739.0 </a:t>
            </a:r>
          </a:p>
          <a:p>
            <a:pPr>
              <a:buFont typeface="Wingdings" panose="05000000000000000000" pitchFamily="2" charset="2"/>
              <a:buChar char="ü"/>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2000" dirty="0"/>
          </a:p>
          <a:p>
            <a:pPr marL="0" indent="0">
              <a:buNone/>
            </a:pPr>
            <a:endParaRPr lang="fr-FR" sz="2000" dirty="0"/>
          </a:p>
        </p:txBody>
      </p:sp>
      <p:sp>
        <p:nvSpPr>
          <p:cNvPr id="6" name="Rectangle 1">
            <a:extLst>
              <a:ext uri="{FF2B5EF4-FFF2-40B4-BE49-F238E27FC236}">
                <a16:creationId xmlns:a16="http://schemas.microsoft.com/office/drawing/2014/main" id="{513F174D-11DD-C792-F12A-C10EA447479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87CE98F-BDF0-7C6D-FF48-CE50372DFC50}"/>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0EDE8F2-4ADE-4A1E-907C-07DECF2A6F90}"/>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8" name="Image 7">
            <a:extLst>
              <a:ext uri="{FF2B5EF4-FFF2-40B4-BE49-F238E27FC236}">
                <a16:creationId xmlns:a16="http://schemas.microsoft.com/office/drawing/2014/main" id="{A85DFD29-A3A7-ADD5-8F36-A1E309F2ADF1}"/>
              </a:ext>
            </a:extLst>
          </p:cNvPr>
          <p:cNvPicPr>
            <a:picLocks noChangeAspect="1"/>
          </p:cNvPicPr>
          <p:nvPr/>
        </p:nvPicPr>
        <p:blipFill>
          <a:blip r:embed="rId2"/>
          <a:stretch>
            <a:fillRect/>
          </a:stretch>
        </p:blipFill>
        <p:spPr>
          <a:xfrm>
            <a:off x="5520520" y="489308"/>
            <a:ext cx="5677692" cy="1810003"/>
          </a:xfrm>
          <a:prstGeom prst="rect">
            <a:avLst/>
          </a:prstGeom>
        </p:spPr>
      </p:pic>
      <p:sp>
        <p:nvSpPr>
          <p:cNvPr id="9" name="Rectangle 2">
            <a:extLst>
              <a:ext uri="{FF2B5EF4-FFF2-40B4-BE49-F238E27FC236}">
                <a16:creationId xmlns:a16="http://schemas.microsoft.com/office/drawing/2014/main" id="{9B657CF6-3974-663C-82A5-103D61E8109D}"/>
              </a:ext>
            </a:extLst>
          </p:cNvPr>
          <p:cNvSpPr>
            <a:spLocks noChangeArrowheads="1"/>
          </p:cNvSpPr>
          <p:nvPr/>
        </p:nvSpPr>
        <p:spPr bwMode="auto">
          <a:xfrm>
            <a:off x="0" y="13156"/>
            <a:ext cx="6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1" name="Image 10">
            <a:extLst>
              <a:ext uri="{FF2B5EF4-FFF2-40B4-BE49-F238E27FC236}">
                <a16:creationId xmlns:a16="http://schemas.microsoft.com/office/drawing/2014/main" id="{FEFB8F4F-7880-A49E-21E0-0C2E0BFE5B60}"/>
              </a:ext>
            </a:extLst>
          </p:cNvPr>
          <p:cNvPicPr>
            <a:picLocks noChangeAspect="1"/>
          </p:cNvPicPr>
          <p:nvPr/>
        </p:nvPicPr>
        <p:blipFill>
          <a:blip r:embed="rId3"/>
          <a:stretch>
            <a:fillRect/>
          </a:stretch>
        </p:blipFill>
        <p:spPr>
          <a:xfrm>
            <a:off x="5520521" y="2375371"/>
            <a:ext cx="5677692" cy="4437391"/>
          </a:xfrm>
          <a:prstGeom prst="rect">
            <a:avLst/>
          </a:prstGeom>
        </p:spPr>
      </p:pic>
      <p:sp>
        <p:nvSpPr>
          <p:cNvPr id="12" name="Rectangle 3">
            <a:extLst>
              <a:ext uri="{FF2B5EF4-FFF2-40B4-BE49-F238E27FC236}">
                <a16:creationId xmlns:a16="http://schemas.microsoft.com/office/drawing/2014/main" id="{E6E1FFBB-4A81-D978-7E8B-C90AB87145C6}"/>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4102DDFF-53EB-D02D-8392-F4051BBB2B66}"/>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2652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11CD9E5B-7EF9-7625-1D3E-7048435ACE9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A776953-B2EF-3E68-3699-BD13E5E1D3E5}"/>
              </a:ext>
            </a:extLst>
          </p:cNvPr>
          <p:cNvSpPr>
            <a:spLocks noGrp="1"/>
          </p:cNvSpPr>
          <p:nvPr>
            <p:ph idx="1"/>
          </p:nvPr>
        </p:nvSpPr>
        <p:spPr>
          <a:xfrm>
            <a:off x="1366448" y="311071"/>
            <a:ext cx="9914170" cy="6235857"/>
          </a:xfrm>
        </p:spPr>
        <p:txBody>
          <a:bodyPr>
            <a:normAutofit/>
          </a:bodyPr>
          <a:lstStyle/>
          <a:p>
            <a:pPr marL="0" indent="0">
              <a:buNone/>
            </a:pPr>
            <a:r>
              <a:rPr lang="fr-FR" sz="1800" b="1" dirty="0">
                <a:solidFill>
                  <a:schemeClr val="tx2"/>
                </a:solidFill>
              </a:rPr>
              <a:t>4.  Analyse du taux de marge:</a:t>
            </a:r>
            <a:endParaRPr lang="fr-FR" sz="1600" dirty="0"/>
          </a:p>
          <a:p>
            <a:pPr marL="0" indent="0">
              <a:buNone/>
            </a:pPr>
            <a:endParaRPr lang="fr-FR" sz="1800" dirty="0"/>
          </a:p>
          <a:p>
            <a:pPr>
              <a:buFont typeface="Wingdings" panose="05000000000000000000" pitchFamily="2" charset="2"/>
              <a:buChar char="ü"/>
            </a:pPr>
            <a:r>
              <a:rPr lang="fr-FR" sz="1800" dirty="0"/>
              <a:t>Affichage de la ligne avec un taux de marge inférieur à 0</a:t>
            </a:r>
          </a:p>
          <a:p>
            <a:pPr>
              <a:buFont typeface="Wingdings" panose="05000000000000000000" pitchFamily="2" charset="2"/>
              <a:buChar char="ü"/>
            </a:pPr>
            <a:endParaRPr lang="fr-FR" sz="1800" dirty="0"/>
          </a:p>
          <a:p>
            <a:pPr marL="0" indent="0">
              <a:buNone/>
            </a:pPr>
            <a:endParaRPr lang="fr-FR" sz="1800" dirty="0"/>
          </a:p>
          <a:p>
            <a:pPr>
              <a:buFont typeface="Wingdings" panose="05000000000000000000" pitchFamily="2" charset="2"/>
              <a:buChar char="ü"/>
            </a:pPr>
            <a:endParaRPr lang="fr-FR" sz="1800" dirty="0"/>
          </a:p>
          <a:p>
            <a:pPr>
              <a:buFont typeface="Wingdings" panose="05000000000000000000" pitchFamily="2" charset="2"/>
              <a:buChar char="ü"/>
            </a:pPr>
            <a:r>
              <a:rPr lang="fr-FR" sz="1800" dirty="0"/>
              <a:t>Création d’un dataframe avec les taux positifs.</a:t>
            </a:r>
          </a:p>
          <a:p>
            <a:pPr>
              <a:buFont typeface="Wingdings" panose="05000000000000000000" pitchFamily="2" charset="2"/>
              <a:buChar char="ü"/>
            </a:pPr>
            <a:r>
              <a:rPr lang="fr-FR" sz="1800" dirty="0"/>
              <a:t>Création d'un dataframe avec le taux de marge moyen par type de produit</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2000" dirty="0"/>
          </a:p>
          <a:p>
            <a:pPr marL="0" indent="0">
              <a:buNone/>
            </a:pPr>
            <a:endParaRPr lang="fr-FR" sz="2000" dirty="0"/>
          </a:p>
        </p:txBody>
      </p:sp>
      <p:sp>
        <p:nvSpPr>
          <p:cNvPr id="6" name="Rectangle 1">
            <a:extLst>
              <a:ext uri="{FF2B5EF4-FFF2-40B4-BE49-F238E27FC236}">
                <a16:creationId xmlns:a16="http://schemas.microsoft.com/office/drawing/2014/main" id="{9E2A854D-3E77-AA21-C639-D734311B9078}"/>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1CB98AB1-313C-A350-8572-223736B0B5B9}"/>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805B638C-F6B6-DE99-E10C-C3F4C0E5A39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4CF0A552-82DB-BAF9-728A-101CB94EC616}"/>
              </a:ext>
            </a:extLst>
          </p:cNvPr>
          <p:cNvSpPr>
            <a:spLocks noChangeArrowheads="1"/>
          </p:cNvSpPr>
          <p:nvPr/>
        </p:nvSpPr>
        <p:spPr bwMode="auto">
          <a:xfrm>
            <a:off x="0" y="13156"/>
            <a:ext cx="6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2" name="Rectangle 3">
            <a:extLst>
              <a:ext uri="{FF2B5EF4-FFF2-40B4-BE49-F238E27FC236}">
                <a16:creationId xmlns:a16="http://schemas.microsoft.com/office/drawing/2014/main" id="{94D40436-B153-0241-9B59-20CE0537977D}"/>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E6283998-5B15-CCB2-1A7E-171F89040B7A}"/>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00488A3E-5807-F0C0-F4E2-6E5B42ED0C84}"/>
              </a:ext>
            </a:extLst>
          </p:cNvPr>
          <p:cNvPicPr>
            <a:picLocks noChangeAspect="1"/>
          </p:cNvPicPr>
          <p:nvPr/>
        </p:nvPicPr>
        <p:blipFill>
          <a:blip r:embed="rId2"/>
          <a:stretch>
            <a:fillRect/>
          </a:stretch>
        </p:blipFill>
        <p:spPr>
          <a:xfrm>
            <a:off x="3698112" y="793027"/>
            <a:ext cx="5603171" cy="390580"/>
          </a:xfrm>
          <a:prstGeom prst="rect">
            <a:avLst/>
          </a:prstGeom>
        </p:spPr>
      </p:pic>
      <p:pic>
        <p:nvPicPr>
          <p:cNvPr id="14" name="Image 13">
            <a:extLst>
              <a:ext uri="{FF2B5EF4-FFF2-40B4-BE49-F238E27FC236}">
                <a16:creationId xmlns:a16="http://schemas.microsoft.com/office/drawing/2014/main" id="{2683362B-FF5F-E8E2-C1CF-EC88823F5AD6}"/>
              </a:ext>
            </a:extLst>
          </p:cNvPr>
          <p:cNvPicPr>
            <a:picLocks noChangeAspect="1"/>
          </p:cNvPicPr>
          <p:nvPr/>
        </p:nvPicPr>
        <p:blipFill>
          <a:blip r:embed="rId3"/>
          <a:stretch>
            <a:fillRect/>
          </a:stretch>
        </p:blipFill>
        <p:spPr>
          <a:xfrm>
            <a:off x="1484143" y="1665563"/>
            <a:ext cx="9526329" cy="1162212"/>
          </a:xfrm>
          <a:prstGeom prst="rect">
            <a:avLst/>
          </a:prstGeom>
        </p:spPr>
      </p:pic>
      <p:pic>
        <p:nvPicPr>
          <p:cNvPr id="16" name="Image 15">
            <a:extLst>
              <a:ext uri="{FF2B5EF4-FFF2-40B4-BE49-F238E27FC236}">
                <a16:creationId xmlns:a16="http://schemas.microsoft.com/office/drawing/2014/main" id="{78C932C0-241F-6AF9-9350-B28E117B8F9C}"/>
              </a:ext>
            </a:extLst>
          </p:cNvPr>
          <p:cNvPicPr>
            <a:picLocks noChangeAspect="1"/>
          </p:cNvPicPr>
          <p:nvPr/>
        </p:nvPicPr>
        <p:blipFill>
          <a:blip r:embed="rId4"/>
          <a:stretch>
            <a:fillRect/>
          </a:stretch>
        </p:blipFill>
        <p:spPr>
          <a:xfrm>
            <a:off x="6247307" y="3045948"/>
            <a:ext cx="4105848" cy="428685"/>
          </a:xfrm>
          <a:prstGeom prst="rect">
            <a:avLst/>
          </a:prstGeom>
        </p:spPr>
      </p:pic>
      <p:pic>
        <p:nvPicPr>
          <p:cNvPr id="18" name="Image 17">
            <a:extLst>
              <a:ext uri="{FF2B5EF4-FFF2-40B4-BE49-F238E27FC236}">
                <a16:creationId xmlns:a16="http://schemas.microsoft.com/office/drawing/2014/main" id="{6BEA81DF-2F0F-A09A-03CC-AAE054D19561}"/>
              </a:ext>
            </a:extLst>
          </p:cNvPr>
          <p:cNvPicPr>
            <a:picLocks noChangeAspect="1"/>
          </p:cNvPicPr>
          <p:nvPr/>
        </p:nvPicPr>
        <p:blipFill>
          <a:blip r:embed="rId5"/>
          <a:stretch>
            <a:fillRect/>
          </a:stretch>
        </p:blipFill>
        <p:spPr>
          <a:xfrm>
            <a:off x="3295461" y="3892773"/>
            <a:ext cx="5590777" cy="2900758"/>
          </a:xfrm>
          <a:prstGeom prst="rect">
            <a:avLst/>
          </a:prstGeom>
        </p:spPr>
      </p:pic>
    </p:spTree>
    <p:extLst>
      <p:ext uri="{BB962C8B-B14F-4D97-AF65-F5344CB8AC3E}">
        <p14:creationId xmlns:p14="http://schemas.microsoft.com/office/powerpoint/2010/main" val="3732813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22825888-A2C8-90EB-9241-B040F1F9A70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65C2462-BAEF-6E71-9168-A4811582417D}"/>
              </a:ext>
            </a:extLst>
          </p:cNvPr>
          <p:cNvSpPr>
            <a:spLocks noGrp="1"/>
          </p:cNvSpPr>
          <p:nvPr>
            <p:ph idx="1"/>
          </p:nvPr>
        </p:nvSpPr>
        <p:spPr>
          <a:xfrm>
            <a:off x="1366448" y="311071"/>
            <a:ext cx="9914170" cy="6235857"/>
          </a:xfrm>
        </p:spPr>
        <p:txBody>
          <a:bodyPr>
            <a:normAutofit fontScale="92500" lnSpcReduction="10000"/>
          </a:bodyPr>
          <a:lstStyle/>
          <a:p>
            <a:pPr marL="0" indent="0">
              <a:buNone/>
            </a:pPr>
            <a:r>
              <a:rPr lang="fr-FR" sz="1900" b="1" dirty="0">
                <a:solidFill>
                  <a:schemeClr val="tx2"/>
                </a:solidFill>
              </a:rPr>
              <a:t>4. Analyse des corrélations entre les variables stock, sales et Price :</a:t>
            </a:r>
            <a:endParaRPr lang="fr-FR" sz="19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a:buFont typeface="Wingdings" panose="05000000000000000000" pitchFamily="2" charset="2"/>
              <a:buChar char="ü"/>
            </a:pPr>
            <a:endParaRPr lang="fr-FR" sz="1800" dirty="0"/>
          </a:p>
          <a:p>
            <a:pPr>
              <a:buFont typeface="Wingdings" panose="05000000000000000000" pitchFamily="2" charset="2"/>
              <a:buChar char="ü"/>
            </a:pPr>
            <a:r>
              <a:rPr lang="fr-FR" sz="1700" dirty="0"/>
              <a:t>'price'-'stock_quantity' = -0.11 stock augmentent - prix baissent</a:t>
            </a:r>
          </a:p>
          <a:p>
            <a:pPr>
              <a:buFont typeface="Wingdings" panose="05000000000000000000" pitchFamily="2" charset="2"/>
              <a:buChar char="ü"/>
            </a:pPr>
            <a:r>
              <a:rPr lang="fr-FR" sz="1700" dirty="0"/>
              <a:t>'total_sales'-'stock_quantity' = +0.44 stock qte augmentent - ventes augmentent</a:t>
            </a:r>
          </a:p>
          <a:p>
            <a:pPr>
              <a:buFont typeface="Wingdings" panose="05000000000000000000" pitchFamily="2" charset="2"/>
              <a:buChar char="ü"/>
            </a:pPr>
            <a:r>
              <a:rPr lang="fr-FR" sz="1700" dirty="0"/>
              <a:t>'total_sales'-'price' = -0.52 prix augmentent - ventes baissent</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2000" dirty="0"/>
          </a:p>
          <a:p>
            <a:pPr marL="0" indent="0">
              <a:buNone/>
            </a:pPr>
            <a:endParaRPr lang="fr-FR" sz="2000" dirty="0"/>
          </a:p>
        </p:txBody>
      </p:sp>
      <p:sp>
        <p:nvSpPr>
          <p:cNvPr id="6" name="Rectangle 1">
            <a:extLst>
              <a:ext uri="{FF2B5EF4-FFF2-40B4-BE49-F238E27FC236}">
                <a16:creationId xmlns:a16="http://schemas.microsoft.com/office/drawing/2014/main" id="{0727E8AE-7AA0-256F-098D-4BA86120407E}"/>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051E2E37-B674-C74E-3CA3-4405B988150D}"/>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AD299026-9013-86AF-5C8F-F2E43A9E52D0}"/>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0537276D-EDA7-3840-5247-7437159A1C49}"/>
              </a:ext>
            </a:extLst>
          </p:cNvPr>
          <p:cNvSpPr>
            <a:spLocks noChangeArrowheads="1"/>
          </p:cNvSpPr>
          <p:nvPr/>
        </p:nvSpPr>
        <p:spPr bwMode="auto">
          <a:xfrm>
            <a:off x="0" y="13156"/>
            <a:ext cx="6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2" name="Rectangle 3">
            <a:extLst>
              <a:ext uri="{FF2B5EF4-FFF2-40B4-BE49-F238E27FC236}">
                <a16:creationId xmlns:a16="http://schemas.microsoft.com/office/drawing/2014/main" id="{7C7F14ED-831E-579C-4413-13A56D762605}"/>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5E17852C-984F-BD2B-3B64-2B7856EE39B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8" name="Image 7">
            <a:extLst>
              <a:ext uri="{FF2B5EF4-FFF2-40B4-BE49-F238E27FC236}">
                <a16:creationId xmlns:a16="http://schemas.microsoft.com/office/drawing/2014/main" id="{4AD07474-DBC8-2FFA-6524-0AF963CC77BB}"/>
              </a:ext>
            </a:extLst>
          </p:cNvPr>
          <p:cNvPicPr>
            <a:picLocks noChangeAspect="1"/>
          </p:cNvPicPr>
          <p:nvPr/>
        </p:nvPicPr>
        <p:blipFill>
          <a:blip r:embed="rId2"/>
          <a:stretch>
            <a:fillRect/>
          </a:stretch>
        </p:blipFill>
        <p:spPr>
          <a:xfrm>
            <a:off x="2742732" y="1083966"/>
            <a:ext cx="6706536" cy="4020111"/>
          </a:xfrm>
          <a:prstGeom prst="rect">
            <a:avLst/>
          </a:prstGeom>
        </p:spPr>
      </p:pic>
    </p:spTree>
    <p:extLst>
      <p:ext uri="{BB962C8B-B14F-4D97-AF65-F5344CB8AC3E}">
        <p14:creationId xmlns:p14="http://schemas.microsoft.com/office/powerpoint/2010/main" val="4088048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B2398DB-BDC8-F1E4-9500-9793E7619A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73679FE-829A-8C3B-A73A-AA3AE1CAFD28}"/>
              </a:ext>
            </a:extLst>
          </p:cNvPr>
          <p:cNvSpPr>
            <a:spLocks noGrp="1"/>
          </p:cNvSpPr>
          <p:nvPr>
            <p:ph type="title"/>
          </p:nvPr>
        </p:nvSpPr>
        <p:spPr>
          <a:xfrm>
            <a:off x="2072618" y="679846"/>
            <a:ext cx="9126518" cy="1596177"/>
          </a:xfrm>
        </p:spPr>
        <p:txBody>
          <a:bodyPr>
            <a:normAutofit/>
          </a:bodyPr>
          <a:lstStyle/>
          <a:p>
            <a:r>
              <a:rPr lang="fr-FR" sz="4000" dirty="0">
                <a:solidFill>
                  <a:srgbClr val="C00000"/>
                </a:solidFill>
              </a:rPr>
              <a:t>Conclusion &amp; Recommandation</a:t>
            </a:r>
          </a:p>
        </p:txBody>
      </p:sp>
      <p:sp>
        <p:nvSpPr>
          <p:cNvPr id="5" name="ZoneTexte 4">
            <a:extLst>
              <a:ext uri="{FF2B5EF4-FFF2-40B4-BE49-F238E27FC236}">
                <a16:creationId xmlns:a16="http://schemas.microsoft.com/office/drawing/2014/main" id="{F18C33A1-EED1-5528-B974-661684A589C3}"/>
              </a:ext>
            </a:extLst>
          </p:cNvPr>
          <p:cNvSpPr txBox="1"/>
          <p:nvPr/>
        </p:nvSpPr>
        <p:spPr>
          <a:xfrm>
            <a:off x="2176981" y="2626528"/>
            <a:ext cx="8435566" cy="3416320"/>
          </a:xfrm>
          <a:prstGeom prst="rect">
            <a:avLst/>
          </a:prstGeom>
          <a:noFill/>
        </p:spPr>
        <p:txBody>
          <a:bodyPr wrap="square">
            <a:spAutoFit/>
          </a:bodyPr>
          <a:lstStyle/>
          <a:p>
            <a:pPr marL="285750" indent="-285750">
              <a:buFont typeface="Wingdings" panose="05000000000000000000" pitchFamily="2" charset="2"/>
              <a:buChar char="ü"/>
            </a:pPr>
            <a:r>
              <a:rPr lang="fr-FR" dirty="0"/>
              <a:t>Harmoniser les identifiants produits.</a:t>
            </a:r>
          </a:p>
          <a:p>
            <a:pPr marL="285750" indent="-285750">
              <a:buFont typeface="Wingdings" panose="05000000000000000000" pitchFamily="2" charset="2"/>
              <a:buChar char="ü"/>
            </a:pPr>
            <a:r>
              <a:rPr lang="fr-FR" dirty="0"/>
              <a:t>Nettoyer les données (Quantités en stock négatives, Prix..).</a:t>
            </a:r>
          </a:p>
          <a:p>
            <a:pPr marL="285750" indent="-285750">
              <a:buFont typeface="Wingdings" panose="05000000000000000000" pitchFamily="2" charset="2"/>
              <a:buChar char="ü"/>
            </a:pPr>
            <a:r>
              <a:rPr lang="fr-FR" dirty="0"/>
              <a:t>Ajouter des contrôles automatiques lors d’une saisie dans l’ERP.</a:t>
            </a:r>
          </a:p>
          <a:p>
            <a:pPr marL="285750" indent="-285750">
              <a:buFont typeface="Wingdings" panose="05000000000000000000" pitchFamily="2" charset="2"/>
              <a:buChar char="ü"/>
            </a:pPr>
            <a:r>
              <a:rPr lang="fr-FR" dirty="0"/>
              <a:t>Structurer les fichiers (Séparer les données sources, les données nettoyées, et les données calculées, Ajouter un dictionnaire de données).</a:t>
            </a:r>
          </a:p>
          <a:p>
            <a:pPr marL="285750" indent="-285750">
              <a:buFont typeface="Wingdings" panose="05000000000000000000" pitchFamily="2" charset="2"/>
              <a:buChar char="ü"/>
            </a:pPr>
            <a:r>
              <a:rPr lang="fr-FR" dirty="0"/>
              <a:t>Ajoute une colonne “date de mise à jour” dans chaque fichier pour savoir si les données sont fraîches.</a:t>
            </a:r>
          </a:p>
          <a:p>
            <a:pPr marL="285750" indent="-285750">
              <a:buFont typeface="Wingdings" panose="05000000000000000000" pitchFamily="2" charset="2"/>
              <a:buChar char="ü"/>
            </a:pPr>
            <a:r>
              <a:rPr lang="fr-FR" dirty="0"/>
              <a:t>Indiquer la source (ERP ou site web) de chaque ligne Lors de la fusion.</a:t>
            </a:r>
          </a:p>
          <a:p>
            <a:pPr marL="285750" indent="-285750">
              <a:buFont typeface="Wingdings" panose="05000000000000000000" pitchFamily="2" charset="2"/>
              <a:buChar char="ü"/>
            </a:pPr>
            <a:r>
              <a:rPr lang="fr-FR" dirty="0"/>
              <a:t>Prévoir des promotions pour les produits qui restent longtemps en stock.</a:t>
            </a:r>
          </a:p>
          <a:p>
            <a:pPr marL="285750" indent="-285750">
              <a:buFont typeface="Wingdings" panose="05000000000000000000" pitchFamily="2" charset="2"/>
              <a:buChar char="ü"/>
            </a:pPr>
            <a:endParaRPr lang="fr-FR" b="1" dirty="0"/>
          </a:p>
          <a:p>
            <a:endParaRPr lang="fr-FR" dirty="0"/>
          </a:p>
          <a:p>
            <a:pPr>
              <a:buNone/>
            </a:pPr>
            <a:endParaRPr lang="fr-FR" dirty="0"/>
          </a:p>
        </p:txBody>
      </p:sp>
    </p:spTree>
    <p:extLst>
      <p:ext uri="{BB962C8B-B14F-4D97-AF65-F5344CB8AC3E}">
        <p14:creationId xmlns:p14="http://schemas.microsoft.com/office/powerpoint/2010/main" val="537326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5040ED-FA62-DC8F-F91A-2E37EECA186C}"/>
              </a:ext>
            </a:extLst>
          </p:cNvPr>
          <p:cNvSpPr>
            <a:spLocks noGrp="1"/>
          </p:cNvSpPr>
          <p:nvPr>
            <p:ph idx="1"/>
          </p:nvPr>
        </p:nvSpPr>
        <p:spPr>
          <a:xfrm>
            <a:off x="1143000" y="2797371"/>
            <a:ext cx="9905999" cy="1263258"/>
          </a:xfrm>
        </p:spPr>
        <p:txBody>
          <a:bodyPr>
            <a:normAutofit/>
          </a:bodyPr>
          <a:lstStyle/>
          <a:p>
            <a:pPr marL="0" indent="0" algn="ctr">
              <a:buNone/>
            </a:pPr>
            <a:r>
              <a:rPr lang="fr-FR" sz="4000" b="1" i="1" dirty="0"/>
              <a:t> Merci pour votre attention</a:t>
            </a:r>
          </a:p>
        </p:txBody>
      </p:sp>
    </p:spTree>
    <p:extLst>
      <p:ext uri="{BB962C8B-B14F-4D97-AF65-F5344CB8AC3E}">
        <p14:creationId xmlns:p14="http://schemas.microsoft.com/office/powerpoint/2010/main" val="10920199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419</TotalTime>
  <Words>1105</Words>
  <Application>Microsoft Office PowerPoint</Application>
  <PresentationFormat>Grand écran</PresentationFormat>
  <Paragraphs>179</Paragraphs>
  <Slides>19</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Courier New</vt:lpstr>
      <vt:lpstr>Symbol</vt:lpstr>
      <vt:lpstr>Tw Cen MT</vt:lpstr>
      <vt:lpstr>Wingdings</vt:lpstr>
      <vt:lpstr>Circuit</vt:lpstr>
      <vt:lpstr>Optimisez la gestion &amp; nettoyez les données du stock d'une boutique</vt:lpstr>
      <vt:lpstr>Sommaire</vt:lpstr>
      <vt:lpstr>Introduction</vt:lpstr>
      <vt:lpstr>Objectif de la mission</vt:lpstr>
      <vt:lpstr>Sources de données</vt:lpstr>
      <vt:lpstr>méthodologie de traitement et de nettoyage des données</vt:lpstr>
      <vt:lpstr>Présentation PowerPoint</vt:lpstr>
      <vt:lpstr>Présentation PowerPoint</vt:lpstr>
      <vt:lpstr>Présentation PowerPoint</vt:lpstr>
      <vt:lpstr>Présentation PowerPoint</vt:lpstr>
      <vt:lpstr>Fusion des fichiers</vt:lpstr>
      <vt:lpstr>Analyse exploratoire </vt:lpstr>
      <vt:lpstr>Présentation PowerPoint</vt:lpstr>
      <vt:lpstr>Présentation PowerPoint</vt:lpstr>
      <vt:lpstr>Présentation PowerPoint</vt:lpstr>
      <vt:lpstr>Présentation PowerPoint</vt:lpstr>
      <vt:lpstr>Présentation PowerPoint</vt:lpstr>
      <vt:lpstr>Conclusion &amp; Recommandation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Noura OUSFIA</dc:creator>
  <cp:lastModifiedBy>Noura OUSFIA</cp:lastModifiedBy>
  <cp:revision>12</cp:revision>
  <dcterms:created xsi:type="dcterms:W3CDTF">2025-06-27T08:18:34Z</dcterms:created>
  <dcterms:modified xsi:type="dcterms:W3CDTF">2025-06-28T08:44:53Z</dcterms:modified>
</cp:coreProperties>
</file>